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20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640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60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1280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600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240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60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880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200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520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3840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160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44805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8006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1206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54406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7607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4008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7208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0408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73609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6809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80010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83210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6410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9611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92811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6012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99212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02412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5613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1088136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1120140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152144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184148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2161520" y="0"/>
            <a:ext cx="0" cy="685800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0" y="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0" y="3200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0" y="6400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0" y="9601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>
            <a:off x="0" y="12801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0" y="16002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>
            <a:off x="0" y="19202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0" y="22402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0" y="25603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0" y="28803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0" y="32004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0" y="35204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>
            <a:off x="0" y="38404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>
            <a:off x="0" y="41605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>
            <a:off x="0" y="44805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0" y="48006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0" y="51206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>
            <a:off x="0" y="544068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>
            <a:off x="0" y="576072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0" y="608076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0" y="640080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0" y="6720840"/>
            <a:ext cx="12191695" cy="0"/>
          </a:xfrm>
          <a:prstGeom prst="line">
            <a:avLst/>
          </a:prstGeom>
          <a:ln w="6350">
            <a:solidFill>
              <a:srgbClr val="D3D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ectangle 62"/>
          <p:cNvSpPr/>
          <p:nvPr/>
        </p:nvSpPr>
        <p:spPr>
          <a:xfrm>
            <a:off x="822960" y="1097280"/>
            <a:ext cx="6949440" cy="4663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22960" y="1097280"/>
            <a:ext cx="73152" cy="466344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4440" y="14630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MATHEMATICS EDUCATION · MIAMI UNIVERSITY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234440" y="1783080"/>
            <a:ext cx="62179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0" i="0">
                <a:solidFill>
                  <a:srgbClr val="1B1F2A"/>
                </a:solidFill>
                <a:latin typeface="Georgia"/>
              </a:rPr>
              <a:t>Show your work.
</a:t>
            </a:r>
            <a:r>
              <a:rPr sz="4200" b="0" i="1">
                <a:solidFill>
                  <a:srgbClr val="C41230"/>
                </a:solidFill>
                <a:latin typeface="Georgia"/>
              </a:rPr>
              <a:t>All four years of it.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34440" y="3977639"/>
            <a:ext cx="6035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4B5563"/>
                </a:solidFill>
                <a:latin typeface="Calibri"/>
              </a:rPr>
              <a:t>A student template for the Math Ed ePortfolio: what you add each year, and the habits that turn a folder of files into ongoing learning.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234440" y="512064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Selection. </a:t>
            </a:r>
            <a:r>
              <a:rPr sz="1800" b="1" i="0">
                <a:solidFill>
                  <a:srgbClr val="C41230"/>
                </a:solidFill>
                <a:latin typeface="Georgia"/>
              </a:rPr>
              <a:t>Reflection. </a:t>
            </a:r>
            <a:r>
              <a:rPr sz="1800" b="0" i="0">
                <a:solidFill>
                  <a:srgbClr val="1B1F2A"/>
                </a:solidFill>
                <a:latin typeface="Georgia"/>
              </a:rPr>
              <a:t>Connection.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29600" y="1097280"/>
            <a:ext cx="3200400" cy="4663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58200" y="1325880"/>
            <a:ext cx="27432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Definition 1.1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(ePortfolio).</a:t>
            </a:r>
          </a:p>
          <a:p>
            <a:pPr algn="l">
              <a:spcAft>
                <a:spcPts val="10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A curated collection of student-created work — for learning, assessment, and showcase — with reflection on each artifact and on the connections between them.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B1F2A"/>
                </a:solidFill>
                <a:latin typeface="Georgia"/>
              </a:rPr>
              <a:t>Corollary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(Math Ed Portfolio).</a:t>
            </a:r>
          </a:p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4B5563"/>
                </a:solidFill>
                <a:latin typeface="Georgia"/>
              </a:rPr>
              <a:t>The same thing, organized around what a beginning mathematics teacher needs to be able to do. Without reflection it is a repository. With it, it is the argument, with evidence, that you are ready for your own classroom.</a:t>
            </a:r>
          </a:p>
          <a:p>
            <a:pPr algn="r"/>
            <a:r>
              <a:rPr sz="1200" b="0" i="0">
                <a:solidFill>
                  <a:srgbClr val="7B8494"/>
                </a:solidFill>
                <a:latin typeface="Georgia"/>
              </a:rPr>
              <a:t>□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2296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THE FOUR-YEAR BUILD  ·  FIRST-YEAR MATH EDUCATION MAJORS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What makes it a learning portfolio  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MAKES IT A LEARNING PORTFOLIO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A repository stores work. A learning portfolio returns to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Four features separate an ePortfolio that supports ongoing learning from a website with files on it. Every year of this template is built around them.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Return &amp; revise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Nothing is written once. The philosophy statement, goals, and key reflections get a new dated version every cycle — and the old versions stay visible so growth is something you can point to.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8328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Reflection tied to artifacts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Every reflection links to a specific artifact and quotes or points at a specific place in it. Claims without evidence don't go in.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1792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908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Feedback that gets a response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1908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Mentor, cooperating teacher, and peer feedback is logged — and each entry gets a short reply from the student: what changed, or why it didn't.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52560" y="2331720"/>
            <a:ext cx="2651760" cy="3520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052560" y="2331720"/>
            <a:ext cx="2651760" cy="54864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3728" y="2606040"/>
            <a:ext cx="2249424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1B1F2A"/>
                </a:solidFill>
                <a:latin typeface="Georgia"/>
              </a:rPr>
              <a:t>Connection across contexts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3728" y="3383280"/>
            <a:ext cx="2249424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Prompts ask how this is like, and not like, what came before: another course, a placement, the student's own schooling. That is where transfer happens.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MILE alignment  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MILE ALIGNMENT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Every MILE requirement is met by a math ed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MILE asks for About Me, one artifact + reflection from Advanced Writing and from each of three Applied Skills Courses, one from Capstone, and a concluding reflection — all in the Google Site shell from UNV 101, submitted to MILO in Capstone. The math ed portfolio supplies each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01258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MATH ED ARTIFACT THAT FILLS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22156" y="2331720"/>
            <a:ext cx="292089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REFLECTION PROMPT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624328"/>
            <a:ext cx="11094415" cy="0"/>
          </a:xfrm>
          <a:prstGeom prst="line">
            <a:avLst/>
          </a:prstGeom>
          <a:ln w="1270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69748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About Me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360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1 · UNV 101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01258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Baseline letter: who you are, who you want to become as a math teacher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22156" y="26974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Development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48640" y="320040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548640" y="32004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Quantitative reasoning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0360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1–2 · a math course designated ASC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1258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One piece of your own mathematics, with what was hard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22156" y="32004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Process · Outcomes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8640" y="37033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370332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Oral communication or Teamwork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80360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2 · methods or ed course designated ASC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1258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First lesson plan (taught or presented) or a lesson-study team plan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22156" y="370332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Outcomes · Integration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48640" y="420624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420624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ASC · Problem-solving, Digital fluency, or Civic/ethical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80360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3 · a course designated ASC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01258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Student-work analysis, an assessment you designed, or a placement equity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2156" y="420624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Integration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470916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470916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Advanced Writing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880360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1258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Teaching philosophy v3 — the version with every claim linked to an artifact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2156" y="470916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Development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521208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521208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Capstone artifact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4 · student teaching / capstone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1258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Classroom video with time-stamped commentary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722156" y="521208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Outcomes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8640" y="571500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548640" y="5715000"/>
            <a:ext cx="219456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Concluding reflection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80360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Year 4 · Capstone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01258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Integrative reflection across all four years; link submitted via MILO form for graduation credit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722156" y="5715000"/>
            <a:ext cx="2756306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4B5563"/>
                </a:solidFill>
                <a:latin typeface="Calibri"/>
              </a:rPr>
              <a:t>Integration · Development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48640" y="62179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The four-year arc  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THE FOUR-YEAR ARC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Built in step with the program, not on top of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Two to three artifacts a year. The MILE portfolio shell you create in UNV 101 is the same Google Site; the math ed pages are added alongside it.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3063240"/>
            <a:ext cx="11094415" cy="0"/>
          </a:xfrm>
          <a:prstGeom prst="line">
            <a:avLst/>
          </a:prstGeom>
          <a:ln w="190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548640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Begin the record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Site shell · baseline letter · philosophy v1 · one piece of your own mathematics</a:t>
            </a:r>
          </a:p>
        </p:txBody>
      </p:sp>
      <p:sp>
        <p:nvSpPr>
          <p:cNvPr id="13" name="Oval 12"/>
          <p:cNvSpPr/>
          <p:nvPr/>
        </p:nvSpPr>
        <p:spPr>
          <a:xfrm>
            <a:off x="3355848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5848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5848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First classroom evidence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55848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Observation notes · first lesson plan · philosophy v2 · goal check-in</a:t>
            </a:r>
          </a:p>
        </p:txBody>
      </p:sp>
      <p:sp>
        <p:nvSpPr>
          <p:cNvPr id="17" name="Oval 16"/>
          <p:cNvSpPr/>
          <p:nvPr/>
        </p:nvSpPr>
        <p:spPr>
          <a:xfrm>
            <a:off x="6163056" y="2962656"/>
            <a:ext cx="201168" cy="201168"/>
          </a:xfrm>
          <a:prstGeom prst="ellipse">
            <a:avLst/>
          </a:prstGeom>
          <a:solidFill>
            <a:srgbClr val="F7F9FB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63056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63056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Teach and 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63056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Second lesson plan · student-work analysis · assessment you designed · feedback log</a:t>
            </a:r>
          </a:p>
        </p:txBody>
      </p:sp>
      <p:sp>
        <p:nvSpPr>
          <p:cNvPr id="21" name="Oval 20"/>
          <p:cNvSpPr/>
          <p:nvPr/>
        </p:nvSpPr>
        <p:spPr>
          <a:xfrm>
            <a:off x="8970264" y="2962656"/>
            <a:ext cx="201168" cy="201168"/>
          </a:xfrm>
          <a:prstGeom prst="ellipse">
            <a:avLst/>
          </a:prstGeom>
          <a:solidFill>
            <a:srgbClr val="C41230"/>
          </a:solidFill>
          <a:ln w="19050">
            <a:solidFill>
              <a:srgbClr val="C4123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970264" y="2560320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70264" y="3337560"/>
            <a:ext cx="2514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Student teaching &amp; capstone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0264" y="3840480"/>
            <a:ext cx="24688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Classroom video with commentary · philosophy v4 · concluding reflection · MILE submission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5257800"/>
            <a:ext cx="11094415" cy="77724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03520"/>
            <a:ext cx="10637215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Every year:  </a:t>
            </a:r>
            <a:r>
              <a:rPr sz="1250" b="0" i="0">
                <a:solidFill>
                  <a:srgbClr val="1B1F2A"/>
                </a:solidFill>
                <a:latin typeface="Calibri"/>
              </a:rPr>
              <a:t>reread last year's letter to your future self · write the next one · new dated philosophy version · goal check-in with your mentor · reply to every piece of logged feedback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Year 1   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YEAR 1 OF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Begin the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Most of Year 1 is setting a baseline you will come back to. It feels small now; it is the most-referenced material in the whole portfolio.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Portfolio shell (MILE)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Create your Google Site in UNV 101 — this is the MILE shell. Write the About Me page and add a Math Ed section with placeholder pages for each year.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Letter to your future self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Who are you, and who do you want to become as a math teacher? What are you worried about? What do you want to learn here?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v1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One page. It will be wrong in interesting ways, which is the point of keeping it.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One piece of your own mathematics (MILE · ASC)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 proof or exploration from a first-year course, with a note on what was hard. If the course is a Quantitative Reasoning ASC, this is your MILE artifact for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Dated versions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Name files and pages with the semester (philosophy-F26). Never overwrite; add.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Goals you can check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Three concrete goals at the end of the letter. Year 2 opens by grading them.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 first mentor conversation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Meet your faculty mentor; they get share access to the site — and a promise you'll remove them when you graduate.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Muddiest point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One sentence: what about teaching math is least clear to you right now?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What do you already believe about how people learn mathematics — and where did that belief come from?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Year 2   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YEAR 2 OF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First classroom evidence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Early field experience and the first methods course produce the first artifacts from real classrooms. Year 2 is where the connection prompts start doing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Observation notes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From early field experience: what you saw, and one moment you'd have handled differently.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First lesson plan (MILE · ASC)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From a methods course, with standards alignment and anticipated student responses. If the course is an Oral Communication or Teamwork ASC, submit it with its reflection as the MILE artifact.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v2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Rewritten, not edited. Then a short note: what changed since v1, and what caused it.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Goal check-in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Reread the Year 1 letter. Score each goal. Write the Year 2 letter.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Like / not like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For the lesson plan: how is planning a lesson like, and not like, solving a problem set? Like, and not like, being a student in that lesson?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Answer the muddiest point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Return to last year's question. Is it clearer? What made it clearer?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Feedback log begins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Methods instructor feedback on the lesson plan goes in — with your reply: what you'd change and why.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Peer read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Trade portfolios with a classmate; each leaves one comment the other must answer.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Point to one line in your lesson plan that you would not have written a year ago. What do you know now?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Year 3   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YEAR 3 OF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Teach and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Placements give you student thinking to work with. Year 3 shifts the portfolio from what you planned to what students actually did.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Second lesson plan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Different grade band or strand than the first — say, middle-school proportional reasoning after a high-school proof lesson.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Analysis of student work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Real (anonymized) responses to a task you gave, sorted by strategy and misconception, with what you'd do next.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Assessment you designed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 quiz, task, or rubric, plus results and what they told you.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v3 (MILE · Advanced Writing)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Now with evidence: each claim links to an artifact. This is the Advanced Writing artifact for MILE, reflection included.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Lesson wrapper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After teaching: how did you prepare, where did students struggle, what will you do differently next time? Modeled on exam wrappers.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Compare plan to plan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Set the Year 2 and Year 3 lesson plans side by side. Name three differences and what they show.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Feedback with response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Cooperating teacher and supervisor observations are logged; each gets a reply within a week.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Regulatory checklist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Before a lesson: what is the task, my goal, my plan? After: did it work, what didn't, what next?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Find a student response that surprised you. What did the student understand that your plan didn't anticipate?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Year 4   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YEAR 4 OF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Student teaching &amp; capstone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The last year turns the record into an argument. The capstone reflection is the MILE requirement; the portfolio presentation is the program's.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WHAT YOU ADD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48640" y="2578608"/>
            <a:ext cx="512064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548640" y="2697480"/>
            <a:ext cx="512064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Classroom video with commentary (MILE · Capstone)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10–15 minutes of you teaching, with time-stamped notes on the questions you asked and the decisions you made. The Capstone artifact for MILE.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Teaching philosophy v4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Final version, presented beside v1. The distance between them is the evidence.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Growth record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Every logged piece of feedback with its response, and what you did about it.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Concluding reflection (MILE)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The MILE concluding reflection on the whole experience, plus a program reflection that walks a reader through the math ed pages. Submit the site link through MILO's form for graduation credit.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76272"/>
            <a:ext cx="562356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035040" y="2176272"/>
            <a:ext cx="54864" cy="3200400"/>
          </a:xfrm>
          <a:prstGeom prst="rect">
            <a:avLst/>
          </a:prstGeom>
          <a:solidFill>
            <a:srgbClr val="C412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2286000"/>
            <a:ext cx="5623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WHAT KEEPS LEARNING GOING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2670048"/>
            <a:ext cx="5120640" cy="2697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Integration reflection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Referencing specific artifacts across all four years: what can you do now that you couldn't? How does this prepare you for your first classroom?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Reread every letter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Four letters to your future self, in order. Write the fifth: to yourself at the end of your first year teaching.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Portfolio presentation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Present to faculty and peers. Then reply to their feedback in the growth record — the last entry.</a:t>
            </a:r>
          </a:p>
          <a:p>
            <a:pPr algn="l" marL="201168" indent="-201168">
              <a:lnSpc>
                <a:spcPct val="110000"/>
              </a:lnSpc>
              <a:spcAft>
                <a:spcPts val="700"/>
              </a:spcAft>
              <a:buClr>
                <a:srgbClr val="C41230"/>
              </a:buClr>
              <a:buFont typeface="Arial"/>
              <a:buChar char="•"/>
            </a:pPr>
            <a:r>
              <a:rPr sz="1300" b="1" i="0">
                <a:solidFill>
                  <a:srgbClr val="1B1F2A"/>
                </a:solidFill>
                <a:latin typeface="Calibri"/>
              </a:rPr>
              <a:t>Hand-off  </a:t>
            </a:r>
            <a:r>
              <a:rPr sz="1200" b="0" i="0">
                <a:solidFill>
                  <a:srgbClr val="4B5563"/>
                </a:solidFill>
                <a:latin typeface="Calibri"/>
              </a:rPr>
              <a:t>Submit the link via the MILO form in Capstone. Remove instructors' access — MILO recommends sharing, not publishing. The site is yours for the job search and beyond.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577840"/>
            <a:ext cx="11094415" cy="640080"/>
          </a:xfrm>
          <a:prstGeom prst="rect">
            <a:avLst/>
          </a:prstGeom>
          <a:solidFill>
            <a:srgbClr val="F9E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623560"/>
            <a:ext cx="10637215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Reflection prompt  </a:t>
            </a:r>
            <a:r>
              <a:rPr sz="1300" b="0" i="1">
                <a:solidFill>
                  <a:srgbClr val="1B1F2A"/>
                </a:solidFill>
                <a:latin typeface="Georgia"/>
              </a:rPr>
              <a:t>Choose one artifact from each year. Together, what story do they tell about how you learned to teach mathematics?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The reflection cycle  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THE REFLECTION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Every artifact gets a reflection — and the reflection points at the artifact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Four prompt families, drawn from the Miami ePortfolios Working Group. Use one or more per artifact; require a link or a quotation from the artifact in every answer.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331720"/>
            <a:ext cx="269748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548640" y="244144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41230"/>
                </a:solidFill>
                <a:latin typeface="Consolas"/>
              </a:rPr>
              <a:t>PROCESS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88920"/>
            <a:ext cx="2514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Describe the work. What surprised or challenged you? What would you do differently, and why? What tools and resources did you use, and how did they help or hinder?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364992" y="2331720"/>
            <a:ext cx="269748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364992" y="244144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41230"/>
                </a:solidFill>
                <a:latin typeface="Consolas"/>
              </a:rPr>
              <a:t>OUTCOMES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64992" y="2788920"/>
            <a:ext cx="2514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How did this artifact help you learn X? Point to the place in it where you demonstrate your ability to do Y.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81344" y="2331720"/>
            <a:ext cx="269748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181344" y="244144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41230"/>
                </a:solidFill>
                <a:latin typeface="Consolas"/>
              </a:rPr>
              <a:t>INTEGRATION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1344" y="2788920"/>
            <a:ext cx="2514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How does this connect to earlier courses, placements, or your own schooling? How does it prepare you for what you hope to do next?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997696" y="2331720"/>
            <a:ext cx="269748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997696" y="2441448"/>
            <a:ext cx="2697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C41230"/>
                </a:solidFill>
                <a:latin typeface="Consolas"/>
              </a:rPr>
              <a:t>DEVELOPMENT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97696" y="2788920"/>
            <a:ext cx="251460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How have you grown as a mathematics teacher since the last version? Point to iterations to show 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92040"/>
            <a:ext cx="11094415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983480"/>
            <a:ext cx="10545775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0" i="0">
                <a:solidFill>
                  <a:srgbClr val="C41230"/>
                </a:solidFill>
                <a:latin typeface="Consolas"/>
              </a:rPr>
              <a:t>What the mentor does with it</a:t>
            </a:r>
          </a:p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4B5563"/>
                </a:solidFill>
                <a:latin typeface="Calibri"/>
              </a:rPr>
              <a:t>Reflection that nobody responds to stops happening. Each reflection gets a short reply from the faculty mentor within two weeks — one question, one observation — and the student answers it. The exchange stays on the page.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Features that recur every year   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FEATURES THAT RECUR EVERY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The same five moves, four times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Ongoing learning comes from repetition with variation. These are the pages a student returns to each year; the grid shows how each one deepens.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360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71033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1706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52379" y="2331720"/>
            <a:ext cx="219067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YEAR 4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48640" y="2624328"/>
            <a:ext cx="11094415" cy="0"/>
          </a:xfrm>
          <a:prstGeom prst="line">
            <a:avLst/>
          </a:prstGeom>
          <a:ln w="1270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2697480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Letter to future self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0360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Write it: who you are, who you want to become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1033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· score goals · write the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1706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· score · write the next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52379" y="2697480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Reread all four · write the fifth, to your first-year-teacher self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8640" y="3401568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48640" y="3401568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Teaching philosophy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80360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v1 — beliefs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1033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v2 — rewritten, with a note on what changed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61706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v3 — each claim links to an artifact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52379" y="3401568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v4 — shown beside v1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48640" y="4105656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48640" y="4105656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Goal check-in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0360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Set three goals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1033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 them; set new ones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1706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Grade; set goals for placement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52379" y="4105656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Grade; set goals for year one of teaching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8640" y="4809744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4809744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Feedback log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880360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Mentor conversation noted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71033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Methods instructor feedback + reply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61706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Cooperating teacher &amp; supervisor + replies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52379" y="4809744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Presentation feedback + final reply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8640" y="5513832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548640" y="5513832"/>
            <a:ext cx="2194560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B1F2A"/>
                </a:solidFill>
                <a:latin typeface="Georgia"/>
              </a:rPr>
              <a:t>Muddiest point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80360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One sentence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71033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 it; ask the next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61706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Answer; ask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452379" y="5513832"/>
            <a:ext cx="2026081" cy="7040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1150" b="0" i="0">
                <a:solidFill>
                  <a:srgbClr val="4B5563"/>
                </a:solidFill>
                <a:latin typeface="Calibri"/>
              </a:rPr>
              <a:t>Answer; ask the one you'll carry into teaching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48640" y="621792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Artifact page template   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ARTIFACT PAGE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One page, the same shape every time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Each artifact in the Google Site follows this layout, so a reader — or the student in Year 4 — can find the reflection and the feedback without hunting.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286000"/>
            <a:ext cx="6766560" cy="3840480"/>
          </a:xfrm>
          <a:prstGeom prst="rect">
            <a:avLst/>
          </a:prstGeom>
          <a:solidFill>
            <a:srgbClr val="FFFFFF"/>
          </a:solidFill>
          <a:ln w="9525">
            <a:solidFill>
              <a:srgbClr val="B8C6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6217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1B1F2A"/>
                </a:solidFill>
                <a:latin typeface="Georgia"/>
              </a:rPr>
              <a:t>Lesson Plan · Proportional Reasoning, Grade 7</a:t>
            </a:r>
            <a:r>
              <a:rPr sz="1000" b="0" i="0">
                <a:solidFill>
                  <a:srgbClr val="7B8494"/>
                </a:solidFill>
                <a:latin typeface="Consolas"/>
              </a:rPr>
              <a:t>    F27 · Methods 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2960" y="2944368"/>
            <a:ext cx="6217920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822960" y="310896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ARTIFACT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310896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Embedded PDF or Doc. Standards, objectives, anticipated responses.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93592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CONTEXT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77440" y="3593592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Course, placement, grade band, what came just before and after.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78224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REFLECTION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40" y="4078224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Process · Outcomes · Integration · Development — with links to specific parts of the artifact.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62856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FEEDBACK &amp; REPLY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4562856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Instructor / mentor comment, dated. Student reply, dated.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7440" y="5047488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Links to the earlier artifact this builds on, and the philosophy version it informs.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32120"/>
            <a:ext cx="15544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C41230"/>
                </a:solidFill>
                <a:latin typeface="Consolas"/>
              </a:rPr>
              <a:t>NEXT 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5532120"/>
            <a:ext cx="4663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4B5563"/>
                </a:solidFill>
                <a:latin typeface="Calibri"/>
              </a:rPr>
              <a:t>One sentence: what this artifact says you should try next.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286000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7B8494"/>
                </a:solidFill>
                <a:latin typeface="Consolas"/>
              </a:rPr>
              <a:t>SITE MAP (GOOGLE SITES)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80960" y="2578608"/>
            <a:ext cx="3977639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680960" y="2697480"/>
            <a:ext cx="3977639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About Me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MILE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MILE Portfolio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MILE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Advanced Writing · ASC ×3 · Capstone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MILE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Math Ed Portfolio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Letters &amp; goals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Teaching philosophy (v1–v4)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Year 1 · Year 2 · Year 3 · Year 4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Feedback log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4B5563"/>
                </a:solidFill>
                <a:latin typeface="Calibri"/>
              </a:rPr>
              <a:t>   Growth record</a:t>
            </a:r>
          </a:p>
          <a:p>
            <a:pPr algn="l">
              <a:spcAft>
                <a:spcPts val="500"/>
              </a:spcAft>
            </a:pPr>
            <a:r>
              <a:rPr sz="1250" b="0" i="0">
                <a:solidFill>
                  <a:srgbClr val="1B1F2A"/>
                </a:solidFill>
                <a:latin typeface="Calibri"/>
              </a:rPr>
              <a:t>Concluding reflection</a:t>
            </a:r>
            <a:r>
              <a:rPr sz="900" b="0" i="0">
                <a:solidFill>
                  <a:srgbClr val="C41230"/>
                </a:solidFill>
                <a:latin typeface="Consolas"/>
              </a:rPr>
              <a:t>   MILE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 w="9525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Miami University · Math Ed Portfolio · The Four-Year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99855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7B8494"/>
                </a:solidFill>
                <a:latin typeface="Consolas"/>
              </a:rPr>
              <a:t>Using this template  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41230"/>
                </a:solidFill>
                <a:latin typeface="Consolas"/>
              </a:rPr>
              <a:t>USING THIS TEMPLATE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7724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0" i="0">
                <a:solidFill>
                  <a:srgbClr val="1B1F2A"/>
                </a:solidFill>
                <a:latin typeface="Georgia"/>
              </a:rPr>
              <a:t>What the program needs to build, in order of urgency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0" i="0">
                <a:solidFill>
                  <a:srgbClr val="4B5563"/>
                </a:solidFill>
                <a:latin typeface="Calibri"/>
              </a:rPr>
              <a:t>Start with the smallest piece inside your own locus of control. Everything below can be piloted in one methods section before it's a program requirement.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28600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8600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Artifact page template &amp; instructions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0" y="2322576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One Google Sites page students copy. Include the six section headings and the reflection prompt families.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48640" y="292608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2999232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999232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Year 1 letter &amp; philosophy prompts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3035808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Baseline reflections assigned in UNV 101 or the first math ed course. These must exist before anything else can be revisited.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48640" y="3639312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48640" y="3712464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3712464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Reflection rubric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0" y="3749040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Shared by all mentors. Two criteria carry most of the weight: is the claim tied to a specific place in the artifact, and does it connect to prior work?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8640" y="4352544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548640" y="4425696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4425696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Feedback-reply norm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4462272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A two-week reply window for mentors, and a one-week reply window for students. Written down, so it happens.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8640" y="5065776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5138928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51389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Year 4 presentation format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175504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Twenty minutes, four artifacts, one per year. Announce it in Year 1 so students select with it in mind.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8640" y="5779008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548640" y="5852160"/>
            <a:ext cx="457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41230"/>
                </a:solidFill>
                <a:latin typeface="Georgia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852160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B1F2A"/>
                </a:solidFill>
                <a:latin typeface="Georgia"/>
              </a:rPr>
              <a:t>ASC designations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0" y="5888736"/>
            <a:ext cx="65836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B5563"/>
                </a:solidFill>
                <a:latin typeface="Calibri"/>
              </a:rPr>
              <a:t>Ask which math and education courses will be designated Applied Skills Courses, so the artifact map above matches real course numbers. MILO's reflection-prompt bank and Howe Center workshops cover the rest.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48640" y="6492240"/>
            <a:ext cx="11094415" cy="0"/>
          </a:xfrm>
          <a:prstGeom prst="line">
            <a:avLst/>
          </a:prstGeom>
          <a:ln w="6350">
            <a:solidFill>
              <a:srgbClr val="B8C6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48640" y="5943600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7B8494"/>
                </a:solidFill>
                <a:latin typeface="Consolas"/>
              </a:rPr>
              <a:t>Sources: Miami ePortfolios Working Group, F'26 (Wardle, Olejnik, Boddy, Bapst) · Perkins &amp; Salomon on transfer · Schraw (1998) regulatory checklists · Lovett (2016) exam wrappers · Tanner (2012)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