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601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002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402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605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7208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811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9212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813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2014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8414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64008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128016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160020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192024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224028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416052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0" y="448056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0" y="512064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0" y="544068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0" y="608076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822960" y="1097280"/>
            <a:ext cx="6949440" cy="4663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2960" y="1097280"/>
            <a:ext cx="73152" cy="466344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4440" y="1463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MATHEMATICS EDUCATION · MIAMI UNIVERSITY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34440" y="1783080"/>
            <a:ext cx="6217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1B1F2A"/>
                </a:solidFill>
                <a:latin typeface="Georgia"/>
              </a:rPr>
              <a:t>Show your work.
</a:t>
            </a:r>
            <a:r>
              <a:rPr sz="4200" b="0" i="1">
                <a:solidFill>
                  <a:srgbClr val="C41230"/>
                </a:solidFill>
                <a:latin typeface="Georgia"/>
              </a:rPr>
              <a:t>All four years of it.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34440" y="3977639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4B5563"/>
                </a:solidFill>
                <a:latin typeface="Calibri"/>
              </a:rPr>
              <a:t>A student template for the Math Ed ePortfolio: what you add each year, and the habits that turn a folder of files into ongoing learning.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34440" y="512064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B1F2A"/>
                </a:solidFill>
                <a:latin typeface="Georgia"/>
              </a:rPr>
              <a:t>Selection. </a:t>
            </a:r>
            <a:r>
              <a:rPr sz="1800" b="1" i="0">
                <a:solidFill>
                  <a:srgbClr val="C41230"/>
                </a:solidFill>
                <a:latin typeface="Georgia"/>
              </a:rPr>
              <a:t>Reflection. </a:t>
            </a:r>
            <a:r>
              <a:rPr sz="1800" b="0" i="0">
                <a:solidFill>
                  <a:srgbClr val="1B1F2A"/>
                </a:solidFill>
                <a:latin typeface="Georgia"/>
              </a:rPr>
              <a:t>Connection.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0" y="1097280"/>
            <a:ext cx="3200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58200" y="1325880"/>
            <a:ext cx="27432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F2A"/>
                </a:solidFill>
                <a:latin typeface="Georgia"/>
              </a:rPr>
              <a:t>Definition 1.1 </a:t>
            </a:r>
            <a:r>
              <a:rPr sz="1300" b="0" i="1">
                <a:solidFill>
                  <a:srgbClr val="1B1F2A"/>
                </a:solidFill>
                <a:latin typeface="Georgia"/>
              </a:rPr>
              <a:t>(ePortfolio).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4B5563"/>
                </a:solidFill>
                <a:latin typeface="Georgia"/>
              </a:rPr>
              <a:t>A curated collection of student-created work — for learning, assessment, and showcase — with reflection on each artifact and on the connections between them.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F2A"/>
                </a:solidFill>
                <a:latin typeface="Georgia"/>
              </a:rPr>
              <a:t>Corollary </a:t>
            </a:r>
            <a:r>
              <a:rPr sz="1300" b="0" i="1">
                <a:solidFill>
                  <a:srgbClr val="1B1F2A"/>
                </a:solidFill>
                <a:latin typeface="Georgia"/>
              </a:rPr>
              <a:t>(Math Ed Portfolio).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4B5563"/>
                </a:solidFill>
                <a:latin typeface="Georgia"/>
              </a:rPr>
              <a:t>The same thing, organized around what a beginning mathematics teacher needs to be able to do. Without reflection it is a repository. With it, it is the argument, with evidence, that you are ready for your own classroom.</a:t>
            </a:r>
          </a:p>
          <a:p>
            <a:pPr algn="r"/>
            <a:r>
              <a:rPr sz="1200" b="0" i="0">
                <a:solidFill>
                  <a:srgbClr val="7B8494"/>
                </a:solidFill>
                <a:latin typeface="Georgia"/>
              </a:rPr>
              <a:t>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THE FOUR-YEAR BUILD  ·  FIRST-YEAR MATH EDUCATION MAJORS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Four-Year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What makes it a learning portfolio 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WHAT MAKES IT A LEARNING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A repository stores work. A learning portfolio returns to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Four features separate an ePortfolio that supports ongoing learning from a website with files on it. Every year of this template is built around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26517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2651760" cy="54864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06040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B1F2A"/>
                </a:solidFill>
                <a:latin typeface="Georgia"/>
              </a:rPr>
              <a:t>Return &amp; revise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83280"/>
            <a:ext cx="22494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Nothing is written once. The philosophy statement, goals, and key reflections get a new dated version every cycle — and the old versions stay visible so growth is something you can point 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331720"/>
            <a:ext cx="26517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331720"/>
            <a:ext cx="2651760" cy="54864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2606040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B1F2A"/>
                </a:solidFill>
                <a:latin typeface="Georgia"/>
              </a:rPr>
              <a:t>Reflection tied to artifacts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383280"/>
            <a:ext cx="22494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Every reflection links to a specific artifact and quotes or points at a specific place in it. Claims without evidence don't go 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331720"/>
            <a:ext cx="26517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331720"/>
            <a:ext cx="2651760" cy="54864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606040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B1F2A"/>
                </a:solidFill>
                <a:latin typeface="Georgia"/>
              </a:rPr>
              <a:t>Feedback that gets a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83280"/>
            <a:ext cx="22494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Mentor, cooperating teacher, and peer feedback is logged — and each entry gets a short reply from the student: what changed, or why it didn't.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2331720"/>
            <a:ext cx="26517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331720"/>
            <a:ext cx="2651760" cy="54864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606040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B1F2A"/>
                </a:solidFill>
                <a:latin typeface="Georgia"/>
              </a:rPr>
              <a:t>Connection across contexts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3383280"/>
            <a:ext cx="22494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Prompts ask how this is like, and not like, what came before: another course, a placement, the student's own schooling. That is where transfer happens.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Four-Year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MILE alignment 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MILE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Every MILE requirement is met by a math ed artifact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MILE asks for About Me, one artifact + reflection from Advanced Writing and from each of three Applied Skills Courses, one from Capstone, and a concluding reflection — all in the Google Site shell from UNV 101, submitted to MILO in Capstone. The math ed portfolio supplies each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331720"/>
            <a:ext cx="29208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1258" y="2331720"/>
            <a:ext cx="29208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MATH ED ARTIFACT THAT FILLS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22156" y="2331720"/>
            <a:ext cx="29208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REFLECTION PROMPT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624328"/>
            <a:ext cx="11094415" cy="0"/>
          </a:xfrm>
          <a:prstGeom prst="line">
            <a:avLst/>
          </a:prstGeom>
          <a:ln w="1270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69748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About 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69748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Year 1 · UNV 101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1258" y="269748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Baseline letter: who you are, who you want to become as a math teacher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2156" y="269748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Development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20040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320040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ASC · Quantitative reasoning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20040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Year 1–2 · a math course designated ASC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1258" y="320040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One piece of your own mathematics, with what was hard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2156" y="320040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Process · Outcomes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70332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370332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ASC · Oral communication or Teamwork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70332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Year 2 · methods or ed course designated ASC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1258" y="370332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First lesson plan (taught or presented) or a lesson-study team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2156" y="370332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Outcomes · Integration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420624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420624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ASC · Problem-solving, Digital fluency, or Civic/ethical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20624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Year 3 · a course designated ASC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1258" y="420624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Student-work analysis, an assessment you designed, or a placement equity reflection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2156" y="420624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Integration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70916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470916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Advanced Writing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470916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Year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1258" y="470916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Teaching philosophy v3 — the version with every claim linked to an artifact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2156" y="470916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Development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521208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521208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Capstone artifact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521208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Year 4 · student teaching / capstone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1258" y="521208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Classroom video with time-stamped commentary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2156" y="521208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Outcomes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571500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8640" y="571500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Concluding reflection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571500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Year 4 · Capstone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1258" y="571500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Integrative reflection across all four years; link submitted via MILO form for graduation credit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22156" y="571500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Integration · Development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8640" y="621792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Four-Year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The four-year arc 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THE FOUR-YEAR 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Built in step with the program, not on top of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Two to three artifacts a year. The MILE portfolio shell you create in UNV 101 is the same Google Site; the math ed pages are added alongside it.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3063240"/>
            <a:ext cx="11094415" cy="0"/>
          </a:xfrm>
          <a:prstGeom prst="line">
            <a:avLst/>
          </a:prstGeom>
          <a:ln w="190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48640" y="2962656"/>
            <a:ext cx="201168" cy="201168"/>
          </a:xfrm>
          <a:prstGeom prst="ellipse">
            <a:avLst/>
          </a:prstGeom>
          <a:solidFill>
            <a:srgbClr val="F7F9FB"/>
          </a:solidFill>
          <a:ln w="19050">
            <a:solidFill>
              <a:srgbClr val="C41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YEAR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1F2A"/>
                </a:solidFill>
                <a:latin typeface="Georgia"/>
              </a:rPr>
              <a:t>Begin the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2468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Site shell · baseline letter · philosophy v1 · one piece of your own mathematics</a:t>
            </a:r>
          </a:p>
        </p:txBody>
      </p:sp>
      <p:sp>
        <p:nvSpPr>
          <p:cNvPr id="13" name="Oval 12"/>
          <p:cNvSpPr/>
          <p:nvPr/>
        </p:nvSpPr>
        <p:spPr>
          <a:xfrm>
            <a:off x="3355848" y="2962656"/>
            <a:ext cx="201168" cy="201168"/>
          </a:xfrm>
          <a:prstGeom prst="ellipse">
            <a:avLst/>
          </a:prstGeom>
          <a:solidFill>
            <a:srgbClr val="F7F9FB"/>
          </a:solidFill>
          <a:ln w="19050">
            <a:solidFill>
              <a:srgbClr val="C41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256032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YEAR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33756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1F2A"/>
                </a:solidFill>
                <a:latin typeface="Georgia"/>
              </a:rPr>
              <a:t>First classroom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3840480"/>
            <a:ext cx="2468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Observation notes · first lesson plan · philosophy v2 · goal check-in</a:t>
            </a:r>
          </a:p>
        </p:txBody>
      </p:sp>
      <p:sp>
        <p:nvSpPr>
          <p:cNvPr id="17" name="Oval 16"/>
          <p:cNvSpPr/>
          <p:nvPr/>
        </p:nvSpPr>
        <p:spPr>
          <a:xfrm>
            <a:off x="6163056" y="2962656"/>
            <a:ext cx="201168" cy="201168"/>
          </a:xfrm>
          <a:prstGeom prst="ellipse">
            <a:avLst/>
          </a:prstGeom>
          <a:solidFill>
            <a:srgbClr val="F7F9FB"/>
          </a:solidFill>
          <a:ln w="19050">
            <a:solidFill>
              <a:srgbClr val="C41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56032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YEAR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333756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1F2A"/>
                </a:solidFill>
                <a:latin typeface="Georgia"/>
              </a:rPr>
              <a:t>Teach and 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3840480"/>
            <a:ext cx="2468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Second lesson plan · student-work analysis · assessment you designed · feedback log</a:t>
            </a:r>
          </a:p>
        </p:txBody>
      </p:sp>
      <p:sp>
        <p:nvSpPr>
          <p:cNvPr id="21" name="Oval 20"/>
          <p:cNvSpPr/>
          <p:nvPr/>
        </p:nvSpPr>
        <p:spPr>
          <a:xfrm>
            <a:off x="8970264" y="2962656"/>
            <a:ext cx="201168" cy="201168"/>
          </a:xfrm>
          <a:prstGeom prst="ellipse">
            <a:avLst/>
          </a:prstGeom>
          <a:solidFill>
            <a:srgbClr val="C41230"/>
          </a:solidFill>
          <a:ln w="19050">
            <a:solidFill>
              <a:srgbClr val="C41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0264" y="256032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YEAR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0264" y="333756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1F2A"/>
                </a:solidFill>
                <a:latin typeface="Georgia"/>
              </a:rPr>
              <a:t>Student teaching &amp; capstone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0264" y="3840480"/>
            <a:ext cx="2468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Classroom video with commentary · philosophy v4 · concluding reflection · MILE submission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57800"/>
            <a:ext cx="11094415" cy="777240"/>
          </a:xfrm>
          <a:prstGeom prst="rect">
            <a:avLst/>
          </a:prstGeom>
          <a:solidFill>
            <a:srgbClr val="F9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03520"/>
            <a:ext cx="106372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Every year:  </a:t>
            </a:r>
            <a:r>
              <a:rPr sz="1250" b="0" i="0">
                <a:solidFill>
                  <a:srgbClr val="1B1F2A"/>
                </a:solidFill>
                <a:latin typeface="Calibri"/>
              </a:rPr>
              <a:t>reread last year's letter to your future self · write the next one · new dated philosophy version · goal check-in with your mentor · reply to every piece of logged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Four-Year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Year 1 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YEAR 1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Begin the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Most of Year 1 is setting a baseline you will come back to. It feels small now; it is the most-referenced material in the whole portfolio.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WHAT YOU ADD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578608"/>
            <a:ext cx="5120640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697480"/>
            <a:ext cx="51206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Portfolio shell (MILE)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Create your Google Site in UNV 101 — this is the MILE shell. Write the About Me page and add a Math Ed section with placeholder pages for each year.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Letter to your future self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Who are you, and who do you want to become as a math teacher? What are you worried about? What do you want to learn here?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Teaching philosophy v1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One page. It will be wrong in interesting ways, which is the point of keeping it.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One piece of your own mathematics (MILE · ASC)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A proof or exploration from a first-year course, with a note on what was hard. If the course is a Quantitative Reasoning ASC, this is your MILE artifact for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76272"/>
            <a:ext cx="56235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176272"/>
            <a:ext cx="54864" cy="320040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WHAT KEEPS LEARNING GOING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70048"/>
            <a:ext cx="512064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Dated versions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Name files and pages with the semester (philosophy-F26). Never overwrite; add.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Goals you can check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Three concrete goals at the end of the letter. Year 2 opens by grading them.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A first mentor conversation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Meet your faculty mentor; they get share access to the site — and a promise you'll remove them when you graduate.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Muddiest point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One sentence: what about teaching math is least clear to you right now?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solidFill>
            <a:srgbClr val="F9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Reflection prompt  </a:t>
            </a:r>
            <a:r>
              <a:rPr sz="1300" b="0" i="1">
                <a:solidFill>
                  <a:srgbClr val="1B1F2A"/>
                </a:solidFill>
                <a:latin typeface="Georgia"/>
              </a:rPr>
              <a:t>What do you already believe about how people learn mathematics — and where did that belief come from?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Four-Year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Year 2 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YEAR 2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First classroom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Early field experience and the first methods course produce the first artifacts from real classrooms. Year 2 is where the connection prompts start doing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WHAT YOU ADD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578608"/>
            <a:ext cx="5120640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697480"/>
            <a:ext cx="51206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Observation notes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From early field experience: what you saw, and one moment you'd have handled differently.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First lesson plan (MILE · ASC)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From a methods course, with standards alignment and anticipated student responses. If the course is an Oral Communication or Teamwork ASC, submit it with its reflection as the MILE artifact.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Teaching philosophy v2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Rewritten, not edited. Then a short note: what changed since v1, and what caused it.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Goal check-in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Reread the Year 1 letter. Score each goal. Write the Year 2 letter.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76272"/>
            <a:ext cx="56235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176272"/>
            <a:ext cx="54864" cy="320040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WHAT KEEPS LEARNING GOING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70048"/>
            <a:ext cx="512064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Like / not like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For the lesson plan: how is planning a lesson like, and not like, solving a problem set? Like, and not like, being a student in that lesson?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Answer the muddiest point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Return to last year's question. Is it clearer? What made it clearer?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Feedback log begins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Methods instructor feedback on the lesson plan goes in — with your reply: what you'd change and why.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Peer read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Trade portfolios with a classmate; each leaves one comment the other must answer.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solidFill>
            <a:srgbClr val="F9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Reflection prompt  </a:t>
            </a:r>
            <a:r>
              <a:rPr sz="1300" b="0" i="1">
                <a:solidFill>
                  <a:srgbClr val="1B1F2A"/>
                </a:solidFill>
                <a:latin typeface="Georgia"/>
              </a:rPr>
              <a:t>Point to one line in your lesson plan that you would not have written a year ago. What do you know now?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Four-Year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Year 3 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YEAR 3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Teach and 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Placements give you student thinking to work with. Year 3 shifts the portfolio from what you planned to what students actually did.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WHAT YOU ADD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578608"/>
            <a:ext cx="5120640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697480"/>
            <a:ext cx="51206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Second lesson plan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Different grade band or strand than the first — say, middle-school proportional reasoning after a high-school proof lesson.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Analysis of student work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Real (anonymized) responses to a task you gave, sorted by strategy and misconception, with what you'd do next.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Assessment you designed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A quiz, task, or rubric, plus results and what they told you.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Teaching philosophy v3 (MILE · Advanced Writing)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Now with evidence: each claim links to an artifact. This is the Advanced Writing artifact for MILE, reflection included.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76272"/>
            <a:ext cx="56235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176272"/>
            <a:ext cx="54864" cy="320040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WHAT KEEPS LEARNING GOING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70048"/>
            <a:ext cx="512064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Lesson wrapper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After teaching: how did you prepare, where did students struggle, what will you do differently next time? Modeled on exam wrappers.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Compare plan to plan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Set the Year 2 and Year 3 lesson plans side by side. Name three differences and what they show.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Feedback with response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Cooperating teacher and supervisor observations are logged; each gets a reply within a week.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Regulatory checklist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Before a lesson: what is the task, my goal, my plan? After: did it work, what didn't, what next?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solidFill>
            <a:srgbClr val="F9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Reflection prompt  </a:t>
            </a:r>
            <a:r>
              <a:rPr sz="1300" b="0" i="1">
                <a:solidFill>
                  <a:srgbClr val="1B1F2A"/>
                </a:solidFill>
                <a:latin typeface="Georgia"/>
              </a:rPr>
              <a:t>Find a student response that surprised you. What did the student understand that your plan didn't anticipate?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Four-Year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Year 4 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YEAR 4 OF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Student teaching &amp;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The last year turns the record into an argument. The capstone reflection is the MILE requirement; the portfolio presentation is the program's.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WHAT YOU ADD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578608"/>
            <a:ext cx="5120640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697480"/>
            <a:ext cx="51206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Classroom video with commentary (MILE · Capstone)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10–15 minutes of you teaching, with time-stamped notes on the questions you asked and the decisions you made. The Capstone artifact for MILE.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Teaching philosophy v4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Final version, presented beside v1. The distance between them is the evidence.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Growth record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Every logged piece of feedback with its response, and what you did about it.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Concluding reflection (MILE)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The MILE concluding reflection on the whole experience, plus a program reflection that walks a reader through the math ed pages. Submit the site link through MILO's form for graduation credit.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76272"/>
            <a:ext cx="56235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176272"/>
            <a:ext cx="54864" cy="320040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WHAT KEEPS LEARNING GOING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70048"/>
            <a:ext cx="512064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Integration reflection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Referencing specific artifacts across all four years: what can you do now that you couldn't? How does this prepare you for your first classroom?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Reread every letter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Four letters to your future self, in order. Write the fifth: to yourself at the end of your first year teaching.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Portfolio presentation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Present to faculty and peers. Then reply to their feedback in the growth record — the last entry.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Hand-off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Submit the link via the MILO form in Capstone. Remove instructors' access — MILO recommends sharing, not publishing. The site is yours for the job search and beyond.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solidFill>
            <a:srgbClr val="F9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Reflection prompt  </a:t>
            </a:r>
            <a:r>
              <a:rPr sz="1300" b="0" i="1">
                <a:solidFill>
                  <a:srgbClr val="1B1F2A"/>
                </a:solidFill>
                <a:latin typeface="Georgia"/>
              </a:rPr>
              <a:t>Choose one artifact from each year. Together, what story do they tell about how you learned to teach mathematics?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Four-Year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The reflection cycle 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THE REFLECTION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Every artifact gets a reflection — and the reflection points at the artifact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Four prompt families, drawn from the Miami ePortfolios Working Group. Use one or more per artifact; require a link or a quotation from the artifact in every answer.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331720"/>
            <a:ext cx="2697480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44144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41230"/>
                </a:solidFill>
                <a:latin typeface="Consolas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2514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Describe the work. What surprised or challenged you? What would you do differently, and why? What tools and resources did you use, and how did they help or hinder?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64992" y="2331720"/>
            <a:ext cx="2697480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64992" y="244144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41230"/>
                </a:solidFill>
                <a:latin typeface="Consolas"/>
              </a:rPr>
              <a:t>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2788920"/>
            <a:ext cx="2514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How did this artifact help you learn X? Point to the place in it where you demonstrate your ability to do 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81344" y="2331720"/>
            <a:ext cx="2697480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81344" y="244144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41230"/>
                </a:solidFill>
                <a:latin typeface="Consolas"/>
              </a:rPr>
              <a:t>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2788920"/>
            <a:ext cx="2514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How does this connect to earlier courses, placements, or your own schooling? How does it prepare you for what you hope to do next?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97696" y="2331720"/>
            <a:ext cx="2697480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997696" y="2441448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41230"/>
                </a:solidFill>
                <a:latin typeface="Consolas"/>
              </a:rPr>
              <a:t>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2788920"/>
            <a:ext cx="2514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How have you grown as a mathematics teacher since the last version? Point to iterations to show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92040"/>
            <a:ext cx="11094415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83480"/>
            <a:ext cx="105457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C41230"/>
                </a:solidFill>
                <a:latin typeface="Consolas"/>
              </a:rPr>
              <a:t>What the mentor does with it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Reflection that nobody responds to stops happening. Each reflection gets a short reply from the faculty mentor within two weeks — one question, one observation — and the student answers it. The exchange stays on the page.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Four-Year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Features that recur every year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FEATURES THAT RECUR EVERY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The same five moves, four 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Ongoing learning comes from repetition with variation. These are the pages a student returns to each year; the grid shows how each one deepens.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33172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YEAR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1033" y="233172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YEAR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1706" y="233172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YEAR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52379" y="233172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YEAR 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2624328"/>
            <a:ext cx="11094415" cy="0"/>
          </a:xfrm>
          <a:prstGeom prst="line">
            <a:avLst/>
          </a:prstGeom>
          <a:ln w="1270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697480"/>
            <a:ext cx="21945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Letter to future self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97480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Write it: who you are, who you want to become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1033" y="2697480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Reread · score goals · write the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1706" y="2697480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Reread · score · write the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2379" y="2697480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Reread all four · write the fifth, to your first-year-teacher self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401568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3401568"/>
            <a:ext cx="21945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Teaching philosophy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401568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v1 — beliefs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1033" y="3401568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v2 — rewritten, with a note on what changed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1706" y="3401568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v3 — each claim links to an artifact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2379" y="3401568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v4 — shown beside v1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105656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4105656"/>
            <a:ext cx="21945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Goal check-in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105656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Set three goals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1033" y="4105656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Grade them; set new 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1706" y="4105656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Grade; set goals for placement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2379" y="4105656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Grade; set goals for year one of teaching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4809744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4809744"/>
            <a:ext cx="21945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Feedback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4809744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Mentor conversation noted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1033" y="4809744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Methods instructor feedback + reply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1706" y="4809744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Cooperating teacher &amp; supervisor + replies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2379" y="4809744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Presentation feedback + final reply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5513832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5513832"/>
            <a:ext cx="21945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Muddiest 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5513832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One sentence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1033" y="5513832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Answer it; ask the next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1706" y="5513832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Answer; ask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52379" y="5513832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Answer; ask the one you'll carry into teaching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" y="621792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Four-Year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Artifact page template 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ARTIFACT PAGE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One page, the same shape every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Each artifact in the Google Site follows this layout, so a reader — or the student in Year 4 — can find the reflection and the feedback without hunting.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67665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1F2A"/>
                </a:solidFill>
                <a:latin typeface="Georgia"/>
              </a:rPr>
              <a:t>Lesson Plan · Proportional Reasoning, Grade 7</a:t>
            </a:r>
            <a:r>
              <a:rPr sz="1000" b="0" i="0">
                <a:solidFill>
                  <a:srgbClr val="7B8494"/>
                </a:solidFill>
                <a:latin typeface="Consolas"/>
              </a:rPr>
              <a:t>    F27 · Methods 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2944368"/>
            <a:ext cx="6217920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31089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1230"/>
                </a:solidFill>
                <a:latin typeface="Consolas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10896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Embedded PDF or Doc. Standards, objectives, anticipated responses.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93592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1230"/>
                </a:solidFill>
                <a:latin typeface="Consolas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59359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Course, placement, grade band, what came just before and after.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78224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1230"/>
                </a:solidFill>
                <a:latin typeface="Consolas"/>
              </a:rPr>
              <a:t>REFLECTION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07822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Process · Outcomes · Integration · Development — with links to specific parts of the artifact.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6285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1230"/>
                </a:solidFill>
                <a:latin typeface="Consolas"/>
              </a:rPr>
              <a:t>FEEDBACK &amp; REPLY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562856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Instructor / mentor comment, dated. Student reply, dated.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47488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1230"/>
                </a:solidFill>
                <a:latin typeface="Consolas"/>
              </a:rPr>
              <a:t>CONNECTIONS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504748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Links to the earlier artifact this builds on, and the philosophy version it informs.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321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41230"/>
                </a:solidFill>
                <a:latin typeface="Consolas"/>
              </a:rPr>
              <a:t>NEXT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53212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One sentence: what this artifact says you should try next.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28600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SITE MAP (GOOGLE SITES)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0" y="2578608"/>
            <a:ext cx="3977639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80960" y="2697480"/>
            <a:ext cx="3977639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B1F2A"/>
                </a:solidFill>
                <a:latin typeface="Calibri"/>
              </a:rPr>
              <a:t>About Me</a:t>
            </a:r>
            <a:r>
              <a:rPr sz="900" b="0" i="0">
                <a:solidFill>
                  <a:srgbClr val="C41230"/>
                </a:solidFill>
                <a:latin typeface="Consolas"/>
              </a:rPr>
              <a:t>   MILE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B1F2A"/>
                </a:solidFill>
                <a:latin typeface="Calibri"/>
              </a:rPr>
              <a:t>MILE Portfolio</a:t>
            </a:r>
            <a:r>
              <a:rPr sz="900" b="0" i="0">
                <a:solidFill>
                  <a:srgbClr val="C41230"/>
                </a:solidFill>
                <a:latin typeface="Consolas"/>
              </a:rPr>
              <a:t>   MILE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B5563"/>
                </a:solidFill>
                <a:latin typeface="Calibri"/>
              </a:rPr>
              <a:t>   Advanced Writing · ASC ×3 · Capstone</a:t>
            </a:r>
            <a:r>
              <a:rPr sz="900" b="0" i="0">
                <a:solidFill>
                  <a:srgbClr val="C41230"/>
                </a:solidFill>
                <a:latin typeface="Consolas"/>
              </a:rPr>
              <a:t>   MILE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B1F2A"/>
                </a:solidFill>
                <a:latin typeface="Calibri"/>
              </a:rPr>
              <a:t>Math Ed Portfolio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B5563"/>
                </a:solidFill>
                <a:latin typeface="Calibri"/>
              </a:rPr>
              <a:t>   Letters &amp; goals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B5563"/>
                </a:solidFill>
                <a:latin typeface="Calibri"/>
              </a:rPr>
              <a:t>   Teaching philosophy (v1–v4)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B5563"/>
                </a:solidFill>
                <a:latin typeface="Calibri"/>
              </a:rPr>
              <a:t>   Year 1 · Year 2 · Year 3 · Year 4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B5563"/>
                </a:solidFill>
                <a:latin typeface="Calibri"/>
              </a:rPr>
              <a:t>   Feedback log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4B5563"/>
                </a:solidFill>
                <a:latin typeface="Calibri"/>
              </a:rPr>
              <a:t>   Growth record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1B1F2A"/>
                </a:solidFill>
                <a:latin typeface="Calibri"/>
              </a:rPr>
              <a:t>Concluding reflection</a:t>
            </a:r>
            <a:r>
              <a:rPr sz="900" b="0" i="0">
                <a:solidFill>
                  <a:srgbClr val="C41230"/>
                </a:solidFill>
                <a:latin typeface="Consolas"/>
              </a:rPr>
              <a:t>   MILE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Four-Year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Using this template 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USING THIS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What the program needs to build, in order of urgency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Start with the smallest piece inside your own locus of control. Everything below can be piloted in one methods section before it's a program requirement.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1230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Georgia"/>
              </a:rPr>
              <a:t>Artifact page template &amp; 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22576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One Google Sites page students copy. Include the six section headings and the reflection prompt families.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92608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999232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1230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99232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Georgia"/>
              </a:rPr>
              <a:t>Year 1 letter &amp; philosophy prompts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35808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Baseline reflections assigned in UNV 101 or the first math ed course. These must exist before anything else can be revisited.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639312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3712464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1230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12464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Georgia"/>
              </a:rPr>
              <a:t>Reflection rubric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749040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Shared by all mentors. Two criteria carry most of the weight: is the claim tied to a specific place in the artifact, and does it connect to prior work?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4352544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4425696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1230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25696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Georgia"/>
              </a:rPr>
              <a:t>Feedback-reply norm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462272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A two-week reply window for mentors, and a one-week reply window for students. Written down, so it happens.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5065776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513892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1230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38928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Georgia"/>
              </a:rPr>
              <a:t>Year 4 presentation format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175504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Twenty minutes, four artifacts, one per year. Announce it in Year 1 so students select with it in mind.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779008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585216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1230"/>
                </a:solidFill>
                <a:latin typeface="Georgia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852160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Georgia"/>
              </a:rPr>
              <a:t>ASC designations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888736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Ask which math and education courses will be designated Applied Skills Courses, so the artifact map above matches real course numbers. MILO's reflection-prompt bank and Howe Center workshops cover the rest.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Sources: Miami ePortfolios Working Group, F'26 (Wardle, Olejnik, Boddy, Bapst) · Perkins &amp; Salomon on transfer · Schraw (1998) regulatory checklists · Lovett (2016) exam wrappers · Tanner (2012)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