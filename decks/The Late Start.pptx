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2004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4008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6012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28016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60020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92024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224028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56032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88036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52044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84048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16052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48056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80060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12064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44068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6072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8076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40080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72084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04088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36092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68096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00100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32104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64108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96112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28116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60120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92124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024128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56132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088136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120140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152144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184148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12161520" y="0"/>
            <a:ext cx="0" cy="685800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0" y="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0" y="32004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0" y="64008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0" y="96012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0" y="128016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0" y="160020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0" y="192024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0" y="224028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0" y="256032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0" y="288036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0" y="320040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0" y="352044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0" y="384048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0" y="416052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0" y="448056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0" y="480060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0" y="512064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0" y="544068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0" y="576072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0" y="608076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0" y="640080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0" y="6720840"/>
            <a:ext cx="12191695" cy="0"/>
          </a:xfrm>
          <a:prstGeom prst="line">
            <a:avLst/>
          </a:prstGeom>
          <a:ln w="6350">
            <a:solidFill>
              <a:srgbClr val="D3DE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822960" y="1097280"/>
            <a:ext cx="6949440" cy="4663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22960" y="1097280"/>
            <a:ext cx="73152" cy="4663440"/>
          </a:xfrm>
          <a:prstGeom prst="rect">
            <a:avLst/>
          </a:prstGeom>
          <a:solidFill>
            <a:srgbClr val="C41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234440" y="14630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41230"/>
                </a:solidFill>
                <a:latin typeface="Consolas"/>
              </a:rPr>
              <a:t>MATHEMATICS EDUCATION · MIAMI UNIVERSITY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34440" y="1783080"/>
            <a:ext cx="62179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0" i="0">
                <a:solidFill>
                  <a:srgbClr val="1B1F2A"/>
                </a:solidFill>
                <a:latin typeface="Georgia"/>
              </a:rPr>
              <a:t>Start where you are.
</a:t>
            </a:r>
            <a:r>
              <a:rPr sz="4200" b="0" i="1">
                <a:solidFill>
                  <a:srgbClr val="C41230"/>
                </a:solidFill>
                <a:latin typeface="Georgia"/>
              </a:rPr>
              <a:t>Build backward, then forward.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34440" y="3977639"/>
            <a:ext cx="6035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4B5563"/>
                </a:solidFill>
                <a:latin typeface="Calibri"/>
              </a:rPr>
              <a:t>A template for students who join the program in Year 3. One semester reconstructs the baseline from work you already have; the last three semesters run the full cycle.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34440" y="5120640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B1F2A"/>
                </a:solidFill>
                <a:latin typeface="Georgia"/>
              </a:rPr>
              <a:t>Selection. </a:t>
            </a:r>
            <a:r>
              <a:rPr sz="1800" b="1" i="0">
                <a:solidFill>
                  <a:srgbClr val="C41230"/>
                </a:solidFill>
                <a:latin typeface="Georgia"/>
              </a:rPr>
              <a:t>Reflection. </a:t>
            </a:r>
            <a:r>
              <a:rPr sz="1800" b="0" i="0">
                <a:solidFill>
                  <a:srgbClr val="1B1F2A"/>
                </a:solidFill>
                <a:latin typeface="Georgia"/>
              </a:rPr>
              <a:t>Connection.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229600" y="1097280"/>
            <a:ext cx="320040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B8C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458200" y="1325880"/>
            <a:ext cx="27432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1F2A"/>
                </a:solidFill>
                <a:latin typeface="Georgia"/>
              </a:rPr>
              <a:t>Definition 1.1 </a:t>
            </a:r>
            <a:r>
              <a:rPr sz="1300" b="0" i="1">
                <a:solidFill>
                  <a:srgbClr val="1B1F2A"/>
                </a:solidFill>
                <a:latin typeface="Georgia"/>
              </a:rPr>
              <a:t>(ePortfolio).</a:t>
            </a:r>
          </a:p>
          <a:p>
            <a:pPr algn="l">
              <a:spcAft>
                <a:spcPts val="1000"/>
              </a:spcAft>
            </a:pPr>
            <a:r>
              <a:rPr sz="1200" b="0" i="0">
                <a:solidFill>
                  <a:srgbClr val="4B5563"/>
                </a:solidFill>
                <a:latin typeface="Georgia"/>
              </a:rPr>
              <a:t>A curated collection of student-created work — for learning, assessment, and showcase — with reflection on each artifact and on the connections between them.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1F2A"/>
                </a:solidFill>
                <a:latin typeface="Georgia"/>
              </a:rPr>
              <a:t>Corollary </a:t>
            </a:r>
            <a:r>
              <a:rPr sz="1300" b="0" i="1">
                <a:solidFill>
                  <a:srgbClr val="1B1F2A"/>
                </a:solidFill>
                <a:latin typeface="Georgia"/>
              </a:rPr>
              <a:t>(Math Ed Portfolio).</a:t>
            </a:r>
          </a:p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4B5563"/>
                </a:solidFill>
                <a:latin typeface="Georgia"/>
              </a:rPr>
              <a:t>The same thing, organized around what a beginning mathematics teacher needs to be able to do. Without reflection it is a repository. With it, it is the argument, with evidence, that you are ready for your own classroom.</a:t>
            </a:r>
          </a:p>
          <a:p>
            <a:pPr algn="r"/>
            <a:r>
              <a:rPr sz="1200" b="0" i="0">
                <a:solidFill>
                  <a:srgbClr val="7B8494"/>
                </a:solidFill>
                <a:latin typeface="Georgia"/>
              </a:rPr>
              <a:t>□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B8494"/>
                </a:solidFill>
                <a:latin typeface="Consolas"/>
              </a:rPr>
              <a:t>THE LATE START  ·  TRANSFER STUDENTS AND JUNIORS DECLARING MATH 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B8494"/>
                </a:solidFill>
                <a:latin typeface="Consolas"/>
              </a:rPr>
              <a:t>Miami University · Math Ed Portfolio · The Late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9855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B8494"/>
                </a:solidFill>
                <a:latin typeface="Consolas"/>
              </a:rPr>
              <a:t>Principles for a late start  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41230"/>
                </a:solidFill>
                <a:latin typeface="Consolas"/>
              </a:rPr>
              <a:t>PRINCIPLES FOR A LATE 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B1F2A"/>
                </a:solidFill>
                <a:latin typeface="Georgia"/>
              </a:rPr>
              <a:t>Reconstruct honestly. Then run the same cycle as everyone else.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B5563"/>
                </a:solidFill>
                <a:latin typeface="Calibri"/>
              </a:rPr>
              <a:t>The four learning features don't change. What changes is that the first versions are written looking back rather than looking forward.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31720"/>
            <a:ext cx="265176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B8C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331720"/>
            <a:ext cx="2651760" cy="54864"/>
          </a:xfrm>
          <a:prstGeom prst="rect">
            <a:avLst/>
          </a:prstGeom>
          <a:solidFill>
            <a:srgbClr val="C41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606040"/>
            <a:ext cx="224942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B1F2A"/>
                </a:solidFill>
                <a:latin typeface="Georgia"/>
              </a:rPr>
              <a:t>Reconstruct, don't fabricate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383280"/>
            <a:ext cx="2249424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B5563"/>
                </a:solidFill>
                <a:latin typeface="Calibri"/>
              </a:rPr>
              <a:t>Your Year 1 baseline is a retrospective: who you were when you arrived at college, written now, with the date. Old work from other courses or institutions counts as artifacts.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2331720"/>
            <a:ext cx="265176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B8C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2331720"/>
            <a:ext cx="2651760" cy="54864"/>
          </a:xfrm>
          <a:prstGeom prst="rect">
            <a:avLst/>
          </a:prstGeom>
          <a:solidFill>
            <a:srgbClr val="C41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84448" y="2606040"/>
            <a:ext cx="224942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B1F2A"/>
                </a:solidFill>
                <a:latin typeface="Georgia"/>
              </a:rPr>
              <a:t>Retrospective reflection is still reflection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4448" y="3383280"/>
            <a:ext cx="2249424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B5563"/>
                </a:solidFill>
                <a:latin typeface="Calibri"/>
              </a:rPr>
              <a:t>Prompts ask what you thought then and what you think now, so the first entry already contains a change — the thing the portfolio is designed to show.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331720"/>
            <a:ext cx="265176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B8C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331720"/>
            <a:ext cx="2651760" cy="54864"/>
          </a:xfrm>
          <a:prstGeom prst="rect">
            <a:avLst/>
          </a:prstGeom>
          <a:solidFill>
            <a:srgbClr val="C41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2606040"/>
            <a:ext cx="224942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B1F2A"/>
                </a:solidFill>
                <a:latin typeface="Georgia"/>
              </a:rPr>
              <a:t>Compressed cycle, same moves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383280"/>
            <a:ext cx="2249424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B5563"/>
                </a:solidFill>
                <a:latin typeface="Calibri"/>
              </a:rPr>
              <a:t>Letters, philosophy versions, goal check-ins, and feedback replies happen each semester instead of each year.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52560" y="2331720"/>
            <a:ext cx="265176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B8C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331720"/>
            <a:ext cx="2651760" cy="54864"/>
          </a:xfrm>
          <a:prstGeom prst="rect">
            <a:avLst/>
          </a:prstGeom>
          <a:solidFill>
            <a:srgbClr val="C41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53728" y="2606040"/>
            <a:ext cx="224942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1B1F2A"/>
                </a:solidFill>
                <a:latin typeface="Georgia"/>
              </a:rPr>
              <a:t>Same site, same pages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3728" y="3383280"/>
            <a:ext cx="2249424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B5563"/>
                </a:solidFill>
                <a:latin typeface="Calibri"/>
              </a:rPr>
              <a:t>Your MILE shell and Math Ed pages match every other student's, so mentors and the Year 4 presentation work the same way.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B8494"/>
                </a:solidFill>
                <a:latin typeface="Consolas"/>
              </a:rPr>
              <a:t>Miami University · Math Ed Portfolio · The Late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9855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B8494"/>
                </a:solidFill>
                <a:latin typeface="Consolas"/>
              </a:rPr>
              <a:t>MILE alignment  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41230"/>
                </a:solidFill>
                <a:latin typeface="Consolas"/>
              </a:rPr>
              <a:t>MILE ALIGNMENT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B1F2A"/>
                </a:solidFill>
                <a:latin typeface="Georgia"/>
              </a:rPr>
              <a:t>MILE requirements, compressed to four semesters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B5563"/>
                </a:solidFill>
                <a:latin typeface="Calibri"/>
              </a:rPr>
              <a:t>A late-start student still owes MILE the same pieces: About Me, Advanced Writing, three ASC artifacts, Capstone, and a concluding reflection. Check with MILO on what transfer credit already satisfies; everything else maps below.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2331720"/>
            <a:ext cx="29208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B8494"/>
                </a:solidFill>
                <a:latin typeface="Consolas"/>
              </a:rPr>
              <a:t>WHEN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1258" y="2331720"/>
            <a:ext cx="29208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B8494"/>
                </a:solidFill>
                <a:latin typeface="Consolas"/>
              </a:rPr>
              <a:t>MATH ED ARTIFACT THAT FILLS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22156" y="2331720"/>
            <a:ext cx="292089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B8494"/>
                </a:solidFill>
                <a:latin typeface="Consolas"/>
              </a:rPr>
              <a:t>NOTE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2624328"/>
            <a:ext cx="11094415" cy="0"/>
          </a:xfrm>
          <a:prstGeom prst="line">
            <a:avLst/>
          </a:prstGeom>
          <a:ln w="12700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2697480"/>
            <a:ext cx="2194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1F2A"/>
                </a:solidFill>
                <a:latin typeface="Georgia"/>
              </a:rPr>
              <a:t>About 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2697480"/>
            <a:ext cx="275630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B5563"/>
                </a:solidFill>
                <a:latin typeface="Calibri"/>
              </a:rPr>
              <a:t>Junior fall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1258" y="2697480"/>
            <a:ext cx="275630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B5563"/>
                </a:solidFill>
                <a:latin typeface="Calibri"/>
              </a:rPr>
              <a:t>Retrospective letter: then and now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22156" y="2697480"/>
            <a:ext cx="275630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B5563"/>
                </a:solidFill>
                <a:latin typeface="Calibri"/>
              </a:rPr>
              <a:t>Replaces the UNV 101 baseline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3200400"/>
            <a:ext cx="11094415" cy="0"/>
          </a:xfrm>
          <a:prstGeom prst="line">
            <a:avLst/>
          </a:prstGeom>
          <a:ln w="6350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3200400"/>
            <a:ext cx="2194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1F2A"/>
                </a:solidFill>
                <a:latin typeface="Georgia"/>
              </a:rPr>
              <a:t>ASC · Quantitative reasoning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3200400"/>
            <a:ext cx="275630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B5563"/>
                </a:solidFill>
                <a:latin typeface="Calibri"/>
              </a:rPr>
              <a:t>Junior fall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1258" y="3200400"/>
            <a:ext cx="275630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B5563"/>
                </a:solidFill>
                <a:latin typeface="Calibri"/>
              </a:rPr>
              <a:t>Piece of your own mathematics from prior coursework, with retrospective reflection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22156" y="3200400"/>
            <a:ext cx="275630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B5563"/>
                </a:solidFill>
                <a:latin typeface="Calibri"/>
              </a:rPr>
              <a:t>Confirm with MILO if transferred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3703320"/>
            <a:ext cx="11094415" cy="0"/>
          </a:xfrm>
          <a:prstGeom prst="line">
            <a:avLst/>
          </a:prstGeom>
          <a:ln w="6350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" y="3703320"/>
            <a:ext cx="2194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1F2A"/>
                </a:solidFill>
                <a:latin typeface="Georgia"/>
              </a:rPr>
              <a:t>ASC · Oral communication or Teamwork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3703320"/>
            <a:ext cx="275630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B5563"/>
                </a:solidFill>
                <a:latin typeface="Calibri"/>
              </a:rPr>
              <a:t>Junior fall / spring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1258" y="3703320"/>
            <a:ext cx="275630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B5563"/>
                </a:solidFill>
                <a:latin typeface="Calibri"/>
              </a:rPr>
              <a:t>First lesson plan, taught or presented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22156" y="3703320"/>
            <a:ext cx="275630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B5563"/>
                </a:solidFill>
                <a:latin typeface="Calibri"/>
              </a:rPr>
              <a:t>From the first methods course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4206240"/>
            <a:ext cx="11094415" cy="0"/>
          </a:xfrm>
          <a:prstGeom prst="line">
            <a:avLst/>
          </a:prstGeom>
          <a:ln w="6350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8640" y="4206240"/>
            <a:ext cx="2194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1F2A"/>
                </a:solidFill>
                <a:latin typeface="Georgia"/>
              </a:rPr>
              <a:t>ASC · Problem-solving or other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4206240"/>
            <a:ext cx="275630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B5563"/>
                </a:solidFill>
                <a:latin typeface="Calibri"/>
              </a:rPr>
              <a:t>Junior spring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1258" y="4206240"/>
            <a:ext cx="275630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B5563"/>
                </a:solidFill>
                <a:latin typeface="Calibri"/>
              </a:rPr>
              <a:t>Student-work analysis or assessment you designed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22156" y="4206240"/>
            <a:ext cx="275630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B5563"/>
                </a:solidFill>
                <a:latin typeface="Calibri"/>
              </a:rPr>
              <a:t>From placement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8640" y="4709160"/>
            <a:ext cx="11094415" cy="0"/>
          </a:xfrm>
          <a:prstGeom prst="line">
            <a:avLst/>
          </a:prstGeom>
          <a:ln w="6350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48640" y="4709160"/>
            <a:ext cx="2194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1F2A"/>
                </a:solidFill>
                <a:latin typeface="Georgia"/>
              </a:rPr>
              <a:t>Advanced Writing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0360" y="4709160"/>
            <a:ext cx="275630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B5563"/>
                </a:solidFill>
                <a:latin typeface="Calibri"/>
              </a:rPr>
              <a:t>Junior spring / senior fall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1258" y="4709160"/>
            <a:ext cx="275630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B5563"/>
                </a:solidFill>
                <a:latin typeface="Calibri"/>
              </a:rPr>
              <a:t>Teaching philosophy v3, every claim linked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22156" y="4709160"/>
            <a:ext cx="275630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B5563"/>
                </a:solidFill>
                <a:latin typeface="Calibri"/>
              </a:rPr>
              <a:t>Whichever semester the course falls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48640" y="5212080"/>
            <a:ext cx="11094415" cy="0"/>
          </a:xfrm>
          <a:prstGeom prst="line">
            <a:avLst/>
          </a:prstGeom>
          <a:ln w="6350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48640" y="5212080"/>
            <a:ext cx="2194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1F2A"/>
                </a:solidFill>
                <a:latin typeface="Georgia"/>
              </a:rPr>
              <a:t>Capstone artifact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80360" y="5212080"/>
            <a:ext cx="275630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B5563"/>
                </a:solidFill>
                <a:latin typeface="Calibri"/>
              </a:rPr>
              <a:t>Senior spring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01258" y="5212080"/>
            <a:ext cx="275630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B5563"/>
                </a:solidFill>
                <a:latin typeface="Calibri"/>
              </a:rPr>
              <a:t>Classroom video with commentary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22156" y="5212080"/>
            <a:ext cx="275630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B5563"/>
                </a:solidFill>
                <a:latin typeface="Calibri"/>
              </a:rPr>
              <a:t>Student teaching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48640" y="5715000"/>
            <a:ext cx="11094415" cy="0"/>
          </a:xfrm>
          <a:prstGeom prst="line">
            <a:avLst/>
          </a:prstGeom>
          <a:ln w="6350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548640" y="5715000"/>
            <a:ext cx="2194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1F2A"/>
                </a:solidFill>
                <a:latin typeface="Georgia"/>
              </a:rPr>
              <a:t>Concluding reflection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80360" y="5715000"/>
            <a:ext cx="275630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B5563"/>
                </a:solidFill>
                <a:latin typeface="Calibri"/>
              </a:rPr>
              <a:t>Senior spring · Capstone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01258" y="5715000"/>
            <a:ext cx="275630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B5563"/>
                </a:solidFill>
                <a:latin typeface="Calibri"/>
              </a:rPr>
              <a:t>Integrative reflection; link submitted via MILO form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22156" y="5715000"/>
            <a:ext cx="275630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4B5563"/>
                </a:solidFill>
                <a:latin typeface="Calibri"/>
              </a:rPr>
              <a:t>Graduation credit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48640" y="6217920"/>
            <a:ext cx="11094415" cy="0"/>
          </a:xfrm>
          <a:prstGeom prst="line">
            <a:avLst/>
          </a:prstGeom>
          <a:ln w="6350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B8494"/>
                </a:solidFill>
                <a:latin typeface="Consolas"/>
              </a:rPr>
              <a:t>Miami University · Math Ed Portfolio · The Late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9855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B8494"/>
                </a:solidFill>
                <a:latin typeface="Consolas"/>
              </a:rPr>
              <a:t>The arc  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41230"/>
                </a:solidFill>
                <a:latin typeface="Consolas"/>
              </a:rPr>
              <a:t>THE ARC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B1F2A"/>
                </a:solidFill>
                <a:latin typeface="Georgia"/>
              </a:rPr>
              <a:t>One semester back, three semesters forward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B5563"/>
                </a:solidFill>
                <a:latin typeface="Calibri"/>
              </a:rPr>
              <a:t>Junior fall does the reconstruction alongside the first methods course. From junior spring on, the template matches the Four-Year Build.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3063240"/>
            <a:ext cx="11094415" cy="0"/>
          </a:xfrm>
          <a:prstGeom prst="line">
            <a:avLst/>
          </a:prstGeom>
          <a:ln w="19050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548640" y="2962656"/>
            <a:ext cx="201168" cy="201168"/>
          </a:xfrm>
          <a:prstGeom prst="ellipse">
            <a:avLst/>
          </a:prstGeom>
          <a:solidFill>
            <a:srgbClr val="F7F9FB"/>
          </a:solidFill>
          <a:ln w="19050">
            <a:solidFill>
              <a:srgbClr val="C41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560320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B8494"/>
                </a:solidFill>
                <a:latin typeface="Consolas"/>
              </a:rPr>
              <a:t>JUNIOR FALL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37560"/>
            <a:ext cx="2514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B1F2A"/>
                </a:solidFill>
                <a:latin typeface="Georgia"/>
              </a:rPr>
              <a:t>Reconstruct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40480"/>
            <a:ext cx="24688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B5563"/>
                </a:solidFill>
                <a:latin typeface="Calibri"/>
              </a:rPr>
              <a:t>Site shell · retrospective letter · philosophy v1 from old work · two artifacts pulled from prior coursework with retrospective reflections · first lesson plan</a:t>
            </a:r>
          </a:p>
        </p:txBody>
      </p:sp>
      <p:sp>
        <p:nvSpPr>
          <p:cNvPr id="13" name="Oval 12"/>
          <p:cNvSpPr/>
          <p:nvPr/>
        </p:nvSpPr>
        <p:spPr>
          <a:xfrm>
            <a:off x="3355848" y="2962656"/>
            <a:ext cx="201168" cy="201168"/>
          </a:xfrm>
          <a:prstGeom prst="ellipse">
            <a:avLst/>
          </a:prstGeom>
          <a:solidFill>
            <a:srgbClr val="F7F9FB"/>
          </a:solidFill>
          <a:ln w="19050">
            <a:solidFill>
              <a:srgbClr val="C41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5848" y="2560320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B8494"/>
                </a:solidFill>
                <a:latin typeface="Consolas"/>
              </a:rPr>
              <a:t>JUNIOR SPRING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5848" y="3337560"/>
            <a:ext cx="2514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B1F2A"/>
                </a:solidFill>
                <a:latin typeface="Georgia"/>
              </a:rPr>
              <a:t>Teach and analyze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848" y="3840480"/>
            <a:ext cx="24688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B5563"/>
                </a:solidFill>
                <a:latin typeface="Calibri"/>
              </a:rPr>
              <a:t>Second lesson plan · student-work analysis · assessment you designed · philosophy v2 · feedback log</a:t>
            </a:r>
          </a:p>
        </p:txBody>
      </p:sp>
      <p:sp>
        <p:nvSpPr>
          <p:cNvPr id="17" name="Oval 16"/>
          <p:cNvSpPr/>
          <p:nvPr/>
        </p:nvSpPr>
        <p:spPr>
          <a:xfrm>
            <a:off x="6163056" y="2962656"/>
            <a:ext cx="201168" cy="201168"/>
          </a:xfrm>
          <a:prstGeom prst="ellipse">
            <a:avLst/>
          </a:prstGeom>
          <a:solidFill>
            <a:srgbClr val="F7F9FB"/>
          </a:solidFill>
          <a:ln w="19050">
            <a:solidFill>
              <a:srgbClr val="C41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63056" y="2560320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B8494"/>
                </a:solidFill>
                <a:latin typeface="Consolas"/>
              </a:rPr>
              <a:t>SENIOR FALL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3056" y="3337560"/>
            <a:ext cx="2514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B1F2A"/>
                </a:solidFill>
                <a:latin typeface="Georgia"/>
              </a:rPr>
              <a:t>Placement depth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3056" y="3840480"/>
            <a:ext cx="24688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B5563"/>
                </a:solidFill>
                <a:latin typeface="Calibri"/>
              </a:rPr>
              <a:t>Lesson wrapper · compare plan to plan · philosophy v3 with evidence · goal check-in</a:t>
            </a:r>
          </a:p>
        </p:txBody>
      </p:sp>
      <p:sp>
        <p:nvSpPr>
          <p:cNvPr id="21" name="Oval 20"/>
          <p:cNvSpPr/>
          <p:nvPr/>
        </p:nvSpPr>
        <p:spPr>
          <a:xfrm>
            <a:off x="8970264" y="2962656"/>
            <a:ext cx="201168" cy="201168"/>
          </a:xfrm>
          <a:prstGeom prst="ellipse">
            <a:avLst/>
          </a:prstGeom>
          <a:solidFill>
            <a:srgbClr val="C41230"/>
          </a:solidFill>
          <a:ln w="19050">
            <a:solidFill>
              <a:srgbClr val="C412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0264" y="2560320"/>
            <a:ext cx="2697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B8494"/>
                </a:solidFill>
                <a:latin typeface="Consolas"/>
              </a:rPr>
              <a:t>SENIOR SPRING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0264" y="3337560"/>
            <a:ext cx="2514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B1F2A"/>
                </a:solidFill>
                <a:latin typeface="Georgia"/>
              </a:rPr>
              <a:t>Student teaching &amp; capstone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70264" y="3840480"/>
            <a:ext cx="24688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B5563"/>
                </a:solidFill>
                <a:latin typeface="Calibri"/>
              </a:rPr>
              <a:t>Classroom video with commentary · philosophy v4 beside v1 · concluding reflection · MILE submission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257800"/>
            <a:ext cx="11094415" cy="777240"/>
          </a:xfrm>
          <a:prstGeom prst="rect">
            <a:avLst/>
          </a:prstGeom>
          <a:solidFill>
            <a:srgbClr val="F9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303520"/>
            <a:ext cx="10637215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41230"/>
                </a:solidFill>
                <a:latin typeface="Consolas"/>
              </a:rPr>
              <a:t>Every semester:  </a:t>
            </a:r>
            <a:r>
              <a:rPr sz="1250" b="0" i="0">
                <a:solidFill>
                  <a:srgbClr val="1B1F2A"/>
                </a:solidFill>
                <a:latin typeface="Calibri"/>
              </a:rPr>
              <a:t>reread the last letter · write the next · new dated philosophy version · goal check-in with your mentor · reply to every piece of logged feedback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B8494"/>
                </a:solidFill>
                <a:latin typeface="Consolas"/>
              </a:rPr>
              <a:t>Miami University · Math Ed Portfolio · The Late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9855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B8494"/>
                </a:solidFill>
                <a:latin typeface="Consolas"/>
              </a:rPr>
              <a:t>Junior fall  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41230"/>
                </a:solidFill>
                <a:latin typeface="Consolas"/>
              </a:rPr>
              <a:t>JUNIOR 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B1F2A"/>
                </a:solidFill>
                <a:latin typeface="Georgia"/>
              </a:rPr>
              <a:t>Reconstruct the 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B5563"/>
                </a:solidFill>
                <a:latin typeface="Calibri"/>
              </a:rPr>
              <a:t>You have more to work with than you think: transcripts, old assignments, tutoring or coaching experience, your own schooling. The job this semester is to turn that into a dated starting point.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B8494"/>
                </a:solidFill>
                <a:latin typeface="Consolas"/>
              </a:rPr>
              <a:t>WHAT YOU ADD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2578608"/>
            <a:ext cx="5120640" cy="0"/>
          </a:xfrm>
          <a:prstGeom prst="line">
            <a:avLst/>
          </a:prstGeom>
          <a:ln w="9525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2697480"/>
            <a:ext cx="51206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Portfolio shell (MILE)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Create the Google Site — or use the MILE shell from UNV 101 or its equivalent if you already have one. Write About Me; add the Math Ed section with pages for each semester.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Retrospective letter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Two parts, both dated now: who you were when you started college and what you believed about teaching; who you are today and who you want to become.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Teaching philosophy v1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Written from your best memory of what you believed two years ago. Keep it honest; it is supposed to look dated.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Two artifacts from prior work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A piece of your own mathematics (a Quantitative Reasoning ASC artifact if the course qualifies) and anything teaching-adjacent — a tutoring log, a lesson from another program.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2176272"/>
            <a:ext cx="56235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0" y="2176272"/>
            <a:ext cx="54864" cy="3200400"/>
          </a:xfrm>
          <a:prstGeom prst="rect">
            <a:avLst/>
          </a:prstGeom>
          <a:solidFill>
            <a:srgbClr val="C41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286000"/>
            <a:ext cx="5623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41230"/>
                </a:solidFill>
                <a:latin typeface="Consolas"/>
              </a:rPr>
              <a:t>WHAT KEEPS LEARNING GOING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670048"/>
            <a:ext cx="5120640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Then / now prompts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Every retrospective reflection has two columns: what I thought then, what I think now. The gap is the first evidence of growth.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Dated versions from day one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philosophy-F27-retro, philosophy-S28. Never overwrite.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Mentor intake conversation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Your mentor reads the retrospective letter and asks one question you answer on the page.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Muddiest point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One sentence: what about teaching math is least clear to you right now?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577840"/>
            <a:ext cx="11094415" cy="640080"/>
          </a:xfrm>
          <a:prstGeom prst="rect">
            <a:avLst/>
          </a:prstGeom>
          <a:solidFill>
            <a:srgbClr val="F9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623560"/>
            <a:ext cx="1063721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41230"/>
                </a:solidFill>
                <a:latin typeface="Consolas"/>
              </a:rPr>
              <a:t>Reflection prompt  </a:t>
            </a:r>
            <a:r>
              <a:rPr sz="1300" b="0" i="1">
                <a:solidFill>
                  <a:srgbClr val="1B1F2A"/>
                </a:solidFill>
                <a:latin typeface="Georgia"/>
              </a:rPr>
              <a:t>What did you believe about learning mathematics when you started college? Point to something you wrote or did then that shows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B8494"/>
                </a:solidFill>
                <a:latin typeface="Consolas"/>
              </a:rPr>
              <a:t>Miami University · Math Ed Portfolio · The Late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9855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B8494"/>
                </a:solidFill>
                <a:latin typeface="Consolas"/>
              </a:rPr>
              <a:t>Junior spring  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41230"/>
                </a:solidFill>
                <a:latin typeface="Consolas"/>
              </a:rPr>
              <a:t>JUNIOR SPRING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B1F2A"/>
                </a:solidFill>
                <a:latin typeface="Georgia"/>
              </a:rPr>
              <a:t>Teach and analyze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B5563"/>
                </a:solidFill>
                <a:latin typeface="Calibri"/>
              </a:rPr>
              <a:t>With the baseline in place, the semester runs the Year 3 template: real students, real work, real feedback.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B8494"/>
                </a:solidFill>
                <a:latin typeface="Consolas"/>
              </a:rPr>
              <a:t>WHAT YOU ADD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2578608"/>
            <a:ext cx="5120640" cy="0"/>
          </a:xfrm>
          <a:prstGeom prst="line">
            <a:avLst/>
          </a:prstGeom>
          <a:ln w="9525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2697480"/>
            <a:ext cx="51206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Second lesson plan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Different grade band or strand than the fall plan.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Analysis of student work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Anonymized responses to a task you gave, sorted by strategy and misconception, with what you'd do next.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Assessment you designed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A quiz, task, or rubric, plus results and what they told you.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Teaching philosophy v2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Rewritten, with a note on what changed since the retrospective v1 — and what caused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2176272"/>
            <a:ext cx="56235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0" y="2176272"/>
            <a:ext cx="54864" cy="3200400"/>
          </a:xfrm>
          <a:prstGeom prst="rect">
            <a:avLst/>
          </a:prstGeom>
          <a:solidFill>
            <a:srgbClr val="C41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286000"/>
            <a:ext cx="5623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41230"/>
                </a:solidFill>
                <a:latin typeface="Consolas"/>
              </a:rPr>
              <a:t>WHAT KEEPS LEARNING GOING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670048"/>
            <a:ext cx="5120640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Compare plan to plan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Fall and spring lesson plans side by side. Name three differences and what they show.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Feedback log with replies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Methods instructor and cooperating teacher feedback, each with a reply within a week.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Answer the muddiest point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Return to the fall question; ask the next.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Peer read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Trade portfolios with a classmate who started in Year 1. Each leaves one comment the other must answer.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577840"/>
            <a:ext cx="11094415" cy="640080"/>
          </a:xfrm>
          <a:prstGeom prst="rect">
            <a:avLst/>
          </a:prstGeom>
          <a:solidFill>
            <a:srgbClr val="F9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623560"/>
            <a:ext cx="1063721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41230"/>
                </a:solidFill>
                <a:latin typeface="Consolas"/>
              </a:rPr>
              <a:t>Reflection prompt  </a:t>
            </a:r>
            <a:r>
              <a:rPr sz="1300" b="0" i="1">
                <a:solidFill>
                  <a:srgbClr val="1B1F2A"/>
                </a:solidFill>
                <a:latin typeface="Georgia"/>
              </a:rPr>
              <a:t>Find a student response that surprised you. What did the student understand that your plan didn't anticipate?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B8494"/>
                </a:solidFill>
                <a:latin typeface="Consolas"/>
              </a:rPr>
              <a:t>Miami University · Math Ed Portfolio · The Late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9855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B8494"/>
                </a:solidFill>
                <a:latin typeface="Consolas"/>
              </a:rPr>
              <a:t>Senior year  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41230"/>
                </a:solidFill>
                <a:latin typeface="Consolas"/>
              </a:rPr>
              <a:t>SENIOR YEAR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B1F2A"/>
                </a:solidFill>
                <a:latin typeface="Georgia"/>
              </a:rPr>
              <a:t>Placement depth, then the argument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B5563"/>
                </a:solidFill>
                <a:latin typeface="Calibri"/>
              </a:rPr>
              <a:t>Senior fall deepens the placement evidence; senior spring turns the record into a presentation, exactly as in the Four-Year Build.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B8494"/>
                </a:solidFill>
                <a:latin typeface="Consolas"/>
              </a:rPr>
              <a:t>WHAT YOU ADD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2578608"/>
            <a:ext cx="5120640" cy="0"/>
          </a:xfrm>
          <a:prstGeom prst="line">
            <a:avLst/>
          </a:prstGeom>
          <a:ln w="9525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2697480"/>
            <a:ext cx="51206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Lesson wrapper (fall)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After teaching: how you prepared, where students struggled, what you'll do differently.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Teaching philosophy v3 and v4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v3 with every claim linked to an artifact; v4 presented beside the retrospective v1.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Classroom video with commentary (spring)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10–15 minutes with time-stamped notes on your questions and decisions.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Growth record &amp; concluding reflection (MILE)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Every logged piece of feedback with its response; the MILE concluding reflection plus a program reflection. Submit the link via MILO's form in Capstone.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2176272"/>
            <a:ext cx="562356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B8C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35040" y="2176272"/>
            <a:ext cx="54864" cy="3200400"/>
          </a:xfrm>
          <a:prstGeom prst="rect">
            <a:avLst/>
          </a:prstGeom>
          <a:solidFill>
            <a:srgbClr val="C412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2286000"/>
            <a:ext cx="5623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41230"/>
                </a:solidFill>
                <a:latin typeface="Consolas"/>
              </a:rPr>
              <a:t>WHAT KEEPS LEARNING GOING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670048"/>
            <a:ext cx="5120640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Integration reflection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Referencing artifacts from all four semesters — including the reconstructed ones — what can you do now that you couldn't?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Reread every letter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Retrospective, junior spring, senior fall. Write the last: to yourself at the end of your first year teaching.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Portfolio presentation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Present to faculty and peers; reply to their feedback as the final growth-record entry.</a:t>
            </a:r>
          </a:p>
          <a:p>
            <a:pPr algn="l" marL="201168" indent="-201168">
              <a:lnSpc>
                <a:spcPct val="110000"/>
              </a:lnSpc>
              <a:spcAft>
                <a:spcPts val="700"/>
              </a:spcAft>
              <a:buClr>
                <a:srgbClr val="C41230"/>
              </a:buClr>
              <a:buFont typeface="Arial"/>
              <a:buChar char="•"/>
            </a:pPr>
            <a:r>
              <a:rPr sz="1300" b="1" i="0">
                <a:solidFill>
                  <a:srgbClr val="1B1F2A"/>
                </a:solidFill>
                <a:latin typeface="Calibri"/>
              </a:rPr>
              <a:t>Hand-off  </a:t>
            </a:r>
            <a:r>
              <a:rPr sz="1200" b="0" i="0">
                <a:solidFill>
                  <a:srgbClr val="4B5563"/>
                </a:solidFill>
                <a:latin typeface="Calibri"/>
              </a:rPr>
              <a:t>Submit the MILE link to MILO. Remove instructors' access. Keep the site.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577840"/>
            <a:ext cx="11094415" cy="640080"/>
          </a:xfrm>
          <a:prstGeom prst="rect">
            <a:avLst/>
          </a:prstGeom>
          <a:solidFill>
            <a:srgbClr val="F9E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623560"/>
            <a:ext cx="1063721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41230"/>
                </a:solidFill>
                <a:latin typeface="Consolas"/>
              </a:rPr>
              <a:t>Reflection prompt  </a:t>
            </a:r>
            <a:r>
              <a:rPr sz="1300" b="0" i="1">
                <a:solidFill>
                  <a:srgbClr val="1B1F2A"/>
                </a:solidFill>
                <a:latin typeface="Georgia"/>
              </a:rPr>
              <a:t>Your retrospective letter guessed who you would become. Where was it right, where was it wrong, and what does the portfolio show about why?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B8494"/>
                </a:solidFill>
                <a:latin typeface="Consolas"/>
              </a:rPr>
              <a:t>Miami University · Math Ed Portfolio · The Late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9855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B8494"/>
                </a:solidFill>
                <a:latin typeface="Consolas"/>
              </a:rPr>
              <a:t>Features that recur each semester  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41230"/>
                </a:solidFill>
                <a:latin typeface="Consolas"/>
              </a:rPr>
              <a:t>FEATURES THAT RECUR EACH SEMESTER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B1F2A"/>
                </a:solidFill>
                <a:latin typeface="Georgia"/>
              </a:rPr>
              <a:t>The same five moves, four times — one semester apart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B5563"/>
                </a:solidFill>
                <a:latin typeface="Calibri"/>
              </a:rPr>
              <a:t>Compressed from yearly to per-semester so that a late-start student still gets four iterations of every recurring feature.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2331720"/>
            <a:ext cx="219067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B8494"/>
                </a:solidFill>
                <a:latin typeface="Consolas"/>
              </a:rPr>
              <a:t>JUNIOR FALL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1033" y="2331720"/>
            <a:ext cx="219067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B8494"/>
                </a:solidFill>
                <a:latin typeface="Consolas"/>
              </a:rPr>
              <a:t>JUNIOR SPRING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1706" y="2331720"/>
            <a:ext cx="219067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B8494"/>
                </a:solidFill>
                <a:latin typeface="Consolas"/>
              </a:rPr>
              <a:t>SENIOR FALL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52379" y="2331720"/>
            <a:ext cx="219067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7B8494"/>
                </a:solidFill>
                <a:latin typeface="Consolas"/>
              </a:rPr>
              <a:t>SENIOR SPRING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2624328"/>
            <a:ext cx="11094415" cy="0"/>
          </a:xfrm>
          <a:prstGeom prst="line">
            <a:avLst/>
          </a:prstGeom>
          <a:ln w="12700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2697480"/>
            <a:ext cx="2194560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1F2A"/>
                </a:solidFill>
                <a:latin typeface="Georgia"/>
              </a:rPr>
              <a:t>Letter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697480"/>
            <a:ext cx="2026081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B5563"/>
                </a:solidFill>
                <a:latin typeface="Calibri"/>
              </a:rPr>
              <a:t>Retrospective: then and now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1033" y="2697480"/>
            <a:ext cx="2026081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B5563"/>
                </a:solidFill>
                <a:latin typeface="Calibri"/>
              </a:rPr>
              <a:t>Reread · score goals · write the next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1706" y="2697480"/>
            <a:ext cx="2026081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B5563"/>
                </a:solidFill>
                <a:latin typeface="Calibri"/>
              </a:rPr>
              <a:t>Reread · score · write the next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52379" y="2697480"/>
            <a:ext cx="2026081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B5563"/>
                </a:solidFill>
                <a:latin typeface="Calibri"/>
              </a:rPr>
              <a:t>Reread all · write the one to your first-year-teacher self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3401568"/>
            <a:ext cx="11094415" cy="0"/>
          </a:xfrm>
          <a:prstGeom prst="line">
            <a:avLst/>
          </a:prstGeom>
          <a:ln w="6350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3401568"/>
            <a:ext cx="2194560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1F2A"/>
                </a:solidFill>
                <a:latin typeface="Georgia"/>
              </a:rPr>
              <a:t>Teaching philosophy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3401568"/>
            <a:ext cx="2026081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B5563"/>
                </a:solidFill>
                <a:latin typeface="Calibri"/>
              </a:rPr>
              <a:t>v1 — retrospective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1033" y="3401568"/>
            <a:ext cx="2026081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B5563"/>
                </a:solidFill>
                <a:latin typeface="Calibri"/>
              </a:rPr>
              <a:t>v2 — rewritten, with what changed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1706" y="3401568"/>
            <a:ext cx="2026081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B5563"/>
                </a:solidFill>
                <a:latin typeface="Calibri"/>
              </a:rPr>
              <a:t>v3 — each claim links to an artifact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52379" y="3401568"/>
            <a:ext cx="2026081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B5563"/>
                </a:solidFill>
                <a:latin typeface="Calibri"/>
              </a:rPr>
              <a:t>v4 — beside v1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4105656"/>
            <a:ext cx="11094415" cy="0"/>
          </a:xfrm>
          <a:prstGeom prst="line">
            <a:avLst/>
          </a:prstGeom>
          <a:ln w="6350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8640" y="4105656"/>
            <a:ext cx="2194560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1F2A"/>
                </a:solidFill>
                <a:latin typeface="Georgia"/>
              </a:rPr>
              <a:t>Goal check-in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4105656"/>
            <a:ext cx="2026081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B5563"/>
                </a:solidFill>
                <a:latin typeface="Calibri"/>
              </a:rPr>
              <a:t>Set three goals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1033" y="4105656"/>
            <a:ext cx="2026081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B5563"/>
                </a:solidFill>
                <a:latin typeface="Calibri"/>
              </a:rPr>
              <a:t>Grade; set new ones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1706" y="4105656"/>
            <a:ext cx="2026081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B5563"/>
                </a:solidFill>
                <a:latin typeface="Calibri"/>
              </a:rPr>
              <a:t>Grade; set goals for student teaching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52379" y="4105656"/>
            <a:ext cx="2026081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B5563"/>
                </a:solidFill>
                <a:latin typeface="Calibri"/>
              </a:rPr>
              <a:t>Grade; set goals for year one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48640" y="4809744"/>
            <a:ext cx="11094415" cy="0"/>
          </a:xfrm>
          <a:prstGeom prst="line">
            <a:avLst/>
          </a:prstGeom>
          <a:ln w="6350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48640" y="4809744"/>
            <a:ext cx="2194560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1F2A"/>
                </a:solidFill>
                <a:latin typeface="Georgia"/>
              </a:rPr>
              <a:t>Feedback 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80360" y="4809744"/>
            <a:ext cx="2026081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B5563"/>
                </a:solidFill>
                <a:latin typeface="Calibri"/>
              </a:rPr>
              <a:t>Mentor intake question + reply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71033" y="4809744"/>
            <a:ext cx="2026081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B5563"/>
                </a:solidFill>
                <a:latin typeface="Calibri"/>
              </a:rPr>
              <a:t>Instructor &amp; cooperating teacher + replies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1706" y="4809744"/>
            <a:ext cx="2026081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B5563"/>
                </a:solidFill>
                <a:latin typeface="Calibri"/>
              </a:rPr>
              <a:t>Supervisor + replies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52379" y="4809744"/>
            <a:ext cx="2026081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B5563"/>
                </a:solidFill>
                <a:latin typeface="Calibri"/>
              </a:rPr>
              <a:t>Presentation feedback + final reply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48640" y="5513832"/>
            <a:ext cx="11094415" cy="0"/>
          </a:xfrm>
          <a:prstGeom prst="line">
            <a:avLst/>
          </a:prstGeom>
          <a:ln w="6350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48640" y="5513832"/>
            <a:ext cx="2194560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1B1F2A"/>
                </a:solidFill>
                <a:latin typeface="Georgia"/>
              </a:rPr>
              <a:t>Muddiest point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80360" y="5513832"/>
            <a:ext cx="2026081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B5563"/>
                </a:solidFill>
                <a:latin typeface="Calibri"/>
              </a:rPr>
              <a:t>One sentence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71033" y="5513832"/>
            <a:ext cx="2026081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B5563"/>
                </a:solidFill>
                <a:latin typeface="Calibri"/>
              </a:rPr>
              <a:t>Answer; ask the next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1706" y="5513832"/>
            <a:ext cx="2026081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B5563"/>
                </a:solidFill>
                <a:latin typeface="Calibri"/>
              </a:rPr>
              <a:t>Answer; ask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52379" y="5513832"/>
            <a:ext cx="2026081" cy="7040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4B5563"/>
                </a:solidFill>
                <a:latin typeface="Calibri"/>
              </a:rPr>
              <a:t>Answer; ask the one you'll carry into teaching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48640" y="6217920"/>
            <a:ext cx="11094415" cy="0"/>
          </a:xfrm>
          <a:prstGeom prst="line">
            <a:avLst/>
          </a:prstGeom>
          <a:ln w="6350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 w="9525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B8494"/>
                </a:solidFill>
                <a:latin typeface="Consolas"/>
              </a:rPr>
              <a:t>Miami University · Math Ed Portfolio · The Late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9855" y="64008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7B8494"/>
                </a:solidFill>
                <a:latin typeface="Consolas"/>
              </a:rPr>
              <a:t>Using this template  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41230"/>
                </a:solidFill>
                <a:latin typeface="Consolas"/>
              </a:rPr>
              <a:t>USING THIS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1B1F2A"/>
                </a:solidFill>
                <a:latin typeface="Georgia"/>
              </a:rPr>
              <a:t>What the program needs for late-start students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4B5563"/>
                </a:solidFill>
                <a:latin typeface="Calibri"/>
              </a:rPr>
              <a:t>Most of it is shared with the Four-Year Build. Three pieces are specific to reconstruction.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C41230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86000"/>
            <a:ext cx="3840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B1F2A"/>
                </a:solidFill>
                <a:latin typeface="Georgia"/>
              </a:rPr>
              <a:t>Retrospective letter 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322576"/>
            <a:ext cx="6583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B5563"/>
                </a:solidFill>
                <a:latin typeface="Calibri"/>
              </a:rPr>
              <a:t>Two-part, then/now. This is the one document a late-start student cannot borrow from the standard template.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2926080"/>
            <a:ext cx="11094415" cy="0"/>
          </a:xfrm>
          <a:prstGeom prst="line">
            <a:avLst/>
          </a:prstGeom>
          <a:ln w="6350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2999232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C41230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999232"/>
            <a:ext cx="3840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B1F2A"/>
                </a:solidFill>
                <a:latin typeface="Georgia"/>
              </a:rPr>
              <a:t>Prior-work intake checklist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035808"/>
            <a:ext cx="6583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B5563"/>
                </a:solidFill>
                <a:latin typeface="Calibri"/>
              </a:rPr>
              <a:t>What counts as an artifact from another institution or a non-education course, how to reflect on it retrospectively, and which MILE requirements MILO counts as satisfied by transfer credit.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3639312"/>
            <a:ext cx="11094415" cy="0"/>
          </a:xfrm>
          <a:prstGeom prst="line">
            <a:avLst/>
          </a:prstGeom>
          <a:ln w="6350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3712464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C41230"/>
                </a:solidFill>
                <a:latin typeface="Georg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712464"/>
            <a:ext cx="3840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B1F2A"/>
                </a:solidFill>
                <a:latin typeface="Georgia"/>
              </a:rPr>
              <a:t>Mentor intake conversation guide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749040"/>
            <a:ext cx="6583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B5563"/>
                </a:solidFill>
                <a:latin typeface="Calibri"/>
              </a:rPr>
              <a:t>One meeting, one question logged on the page. Sets the feedback-reply norm from the first week.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4352544"/>
            <a:ext cx="11094415" cy="0"/>
          </a:xfrm>
          <a:prstGeom prst="line">
            <a:avLst/>
          </a:prstGeom>
          <a:ln w="6350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4425696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C41230"/>
                </a:solidFill>
                <a:latin typeface="Georgia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25696"/>
            <a:ext cx="3840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B1F2A"/>
                </a:solidFill>
                <a:latin typeface="Georgia"/>
              </a:rPr>
              <a:t>Semester-cadence calendar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4462272"/>
            <a:ext cx="6583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B5563"/>
                </a:solidFill>
                <a:latin typeface="Calibri"/>
              </a:rPr>
              <a:t>The same five recurring features, mapped to four semesters instead of four years.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5065776"/>
            <a:ext cx="11094415" cy="0"/>
          </a:xfrm>
          <a:prstGeom prst="line">
            <a:avLst/>
          </a:prstGeom>
          <a:ln w="6350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5138928"/>
            <a:ext cx="457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C41230"/>
                </a:solidFill>
                <a:latin typeface="Georgia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138928"/>
            <a:ext cx="3840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B1F2A"/>
                </a:solidFill>
                <a:latin typeface="Georgia"/>
              </a:rPr>
              <a:t>Shared everything else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5175504"/>
            <a:ext cx="6583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4B5563"/>
                </a:solidFill>
                <a:latin typeface="Calibri"/>
              </a:rPr>
              <a:t>Artifact page template, reflection rubric, and Year 4 presentation format are identical to the Four-Year Build.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8640" y="5779008"/>
            <a:ext cx="11094415" cy="0"/>
          </a:xfrm>
          <a:prstGeom prst="line">
            <a:avLst/>
          </a:prstGeom>
          <a:ln w="6350">
            <a:solidFill>
              <a:srgbClr val="B8C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7B8494"/>
                </a:solidFill>
                <a:latin typeface="Consolas"/>
              </a:rPr>
              <a:t>Sources: Miami ePortfolios Working Group, F'26 · Perkins &amp; Salomon on transfer · Schraw (1998) · Tanner (2012)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