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200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400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01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801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6002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402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603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8803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8404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1605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4805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006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206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4406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607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807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7208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3609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0010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3210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6410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9611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811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9212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2412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13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2014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5214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8414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21615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0" y="32004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0" y="64008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0" y="128016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0" y="160020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0" y="192024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0" y="224028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0" y="256032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0" y="288036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0" y="384048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0" y="416052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0" y="448056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0" y="480060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0" y="512064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0" y="544068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0" y="576072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0" y="608076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0" y="672084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822960" y="1097280"/>
            <a:ext cx="6949440" cy="4663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2960" y="1097280"/>
            <a:ext cx="73152" cy="466344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4440" y="14630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MATHEMATICS EDUCATION · MIAMI UNIVERSITY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34440" y="1783080"/>
            <a:ext cx="6217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0" i="0">
                <a:solidFill>
                  <a:srgbClr val="1B1F2A"/>
                </a:solidFill>
                <a:latin typeface="Georgia"/>
              </a:rPr>
              <a:t>One course.
</a:t>
            </a:r>
            <a:r>
              <a:rPr sz="4200" b="0" i="1">
                <a:solidFill>
                  <a:srgbClr val="C41230"/>
                </a:solidFill>
                <a:latin typeface="Georgia"/>
              </a:rPr>
              <a:t>Fifteen weeks. Every feature.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34440" y="3977639"/>
            <a:ext cx="6035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B5563"/>
                </a:solidFill>
                <a:latin typeface="Calibri"/>
              </a:rPr>
              <a:t>A template for piloting the Math Ed portfolio inside a single methods course, using a Google Doc with tabs. Small enough to run this semester; shaped so it drops into the four-year Google Site later.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34440" y="512064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B1F2A"/>
                </a:solidFill>
                <a:latin typeface="Georgia"/>
              </a:rPr>
              <a:t>Selection. </a:t>
            </a:r>
            <a:r>
              <a:rPr sz="1800" b="1" i="0">
                <a:solidFill>
                  <a:srgbClr val="C41230"/>
                </a:solidFill>
                <a:latin typeface="Georgia"/>
              </a:rPr>
              <a:t>Reflection. </a:t>
            </a:r>
            <a:r>
              <a:rPr sz="1800" b="0" i="0">
                <a:solidFill>
                  <a:srgbClr val="1B1F2A"/>
                </a:solidFill>
                <a:latin typeface="Georgia"/>
              </a:rPr>
              <a:t>Connection.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29600" y="1097280"/>
            <a:ext cx="320040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58200" y="1325880"/>
            <a:ext cx="27432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1F2A"/>
                </a:solidFill>
                <a:latin typeface="Georgia"/>
              </a:rPr>
              <a:t>Definition 1.1 </a:t>
            </a:r>
            <a:r>
              <a:rPr sz="1300" b="0" i="1">
                <a:solidFill>
                  <a:srgbClr val="1B1F2A"/>
                </a:solidFill>
                <a:latin typeface="Georgia"/>
              </a:rPr>
              <a:t>(ePortfolio).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4B5563"/>
                </a:solidFill>
                <a:latin typeface="Georgia"/>
              </a:rPr>
              <a:t>A curated collection of student-created work — for learning, assessment, and showcase — with reflection on each artifact and on the connections between them.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1F2A"/>
                </a:solidFill>
                <a:latin typeface="Georgia"/>
              </a:rPr>
              <a:t>Corollary </a:t>
            </a:r>
            <a:r>
              <a:rPr sz="1300" b="0" i="1">
                <a:solidFill>
                  <a:srgbClr val="1B1F2A"/>
                </a:solidFill>
                <a:latin typeface="Georgia"/>
              </a:rPr>
              <a:t>(Math Ed Portfolio).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4B5563"/>
                </a:solidFill>
                <a:latin typeface="Georgia"/>
              </a:rPr>
              <a:t>The same thing, organized around what a beginning mathematics teacher needs to be able to do. Without reflection it is a repository. With it, it is the argument, with evidence, that you are ready for your own classroom.</a:t>
            </a:r>
          </a:p>
          <a:p>
            <a:pPr algn="r"/>
            <a:r>
              <a:rPr sz="1200" b="0" i="0">
                <a:solidFill>
                  <a:srgbClr val="7B8494"/>
                </a:solidFill>
                <a:latin typeface="Georgia"/>
              </a:rPr>
              <a:t>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THE COURSE PILOT  ·  FACULTY PILOTING PORTFOLIOS THIS SEMESTER; STUDENTS IN A SINGLE METHODS 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Course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Principles for a pilot  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PRINCIPLES FOR A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Same features, shorter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The working group's advice: start with the smallest manageable piece inside your locus of control. This is that piece.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31720"/>
            <a:ext cx="26517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2651760" cy="54864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606040"/>
            <a:ext cx="22494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B1F2A"/>
                </a:solidFill>
                <a:latin typeface="Georgia"/>
              </a:rPr>
              <a:t>Google Doc with tabs, not a site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383280"/>
            <a:ext cx="22494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One shared Doc per student: About &amp; goals · Artifact 1 · Artifact 2 · Feedback log · Final reflection. No platform setup, instant instructor access.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331720"/>
            <a:ext cx="26517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2331720"/>
            <a:ext cx="2651760" cy="54864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606040"/>
            <a:ext cx="22494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B1F2A"/>
                </a:solidFill>
                <a:latin typeface="Georgia"/>
              </a:rPr>
              <a:t>Two artifacts, three reflections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494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Two full artifacts with reflections, plus a compare-and-contrast reflection between them. That is enough to show change inside one semester.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331720"/>
            <a:ext cx="26517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331720"/>
            <a:ext cx="2651760" cy="54864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2606040"/>
            <a:ext cx="22494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B1F2A"/>
                </a:solidFill>
                <a:latin typeface="Georgia"/>
              </a:rPr>
              <a:t>Feedback inside the Doc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3383280"/>
            <a:ext cx="22494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Instructor comments live in the margin; students reply in the log tab within a week. The reply, not the comment, is graded.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2331720"/>
            <a:ext cx="26517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2331720"/>
            <a:ext cx="2651760" cy="54864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3728" y="2606040"/>
            <a:ext cx="22494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B1F2A"/>
                </a:solidFill>
                <a:latin typeface="Georgia"/>
              </a:rPr>
              <a:t>Built to migrate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383280"/>
            <a:ext cx="22494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Tab headings match the Year 2 pages of the four-year Google Site. When the program adopts the full portfolio, students copy tabs into pages.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Course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MILE alignment  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MILE ALIGNMENT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The pilot is the course's MILE obligation, done 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MILE asks every Advanced Writing and ASC instructor to have students submit one artifact and a reflection to their portfolio shell. If the methods course carries an ASC designation, the pilot's Artifact 1 is that submission — and the Doc gives students more than the minimum.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2331720"/>
            <a:ext cx="43813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WHAT THE PILOT PRODUCES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2331720"/>
            <a:ext cx="43813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WHERE IT GOES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2624328"/>
            <a:ext cx="11094415" cy="0"/>
          </a:xfrm>
          <a:prstGeom prst="line">
            <a:avLst/>
          </a:prstGeom>
          <a:ln w="1270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2697480"/>
            <a:ext cx="2194560" cy="8801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One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697480"/>
            <a:ext cx="4216755" cy="8801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Artifact 1 — lesson plan (Oral Communication or Teamwork ASC) or Artifact 2 — student-work analysis (Problem-solving ASC)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1707" y="2697480"/>
            <a:ext cx="4216755" cy="8801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Copied from the Doc tab into the student's Google Site shell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357759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577590"/>
            <a:ext cx="2194560" cy="8801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One reflection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577590"/>
            <a:ext cx="4216755" cy="8801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Reflection using MILO's prompt families — Process, Outcomes, Integration, Development — linked to a specific part of the artifact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1707" y="3577590"/>
            <a:ext cx="4216755" cy="8801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Same page as the artifact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445770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4457700"/>
            <a:ext cx="2194560" cy="8801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Portfolio shell exists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457700"/>
            <a:ext cx="4216755" cy="8801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Week 1 check: does the student have a MILE shell from UNV 101? If not, create it alongside the 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1707" y="4457700"/>
            <a:ext cx="4216755" cy="8801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Google Sites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533781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5337810"/>
            <a:ext cx="2194560" cy="8801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Not required, but the 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5337810"/>
            <a:ext cx="4216755" cy="8801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Baseline letter, philosophy v1 → v2, feedback log with replies, compare-and-contrast, final integrative reflection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1707" y="5337810"/>
            <a:ext cx="4216755" cy="8801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Stays in the Doc; migrates to Math Ed pages if the program adopts the four-year build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21792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Course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The semester  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THE SEMESTER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Four phases, one Doc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Baseline in the first two weeks, an artifact cycle in each of the middle two phases, and a final reflection that reads the whole Doc back.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3063240"/>
            <a:ext cx="11094415" cy="0"/>
          </a:xfrm>
          <a:prstGeom prst="line">
            <a:avLst/>
          </a:prstGeom>
          <a:ln w="190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48640" y="2962656"/>
            <a:ext cx="201168" cy="201168"/>
          </a:xfrm>
          <a:prstGeom prst="ellipse">
            <a:avLst/>
          </a:prstGeom>
          <a:solidFill>
            <a:srgbClr val="F7F9FB"/>
          </a:solidFill>
          <a:ln w="19050">
            <a:solidFill>
              <a:srgbClr val="C41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WEEKS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B1F2A"/>
                </a:solidFill>
                <a:latin typeface="Georgia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40480"/>
            <a:ext cx="2468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Copy the Doc · letter to end-of-semester self · philosophy v1 · three goals · muddiest point</a:t>
            </a:r>
          </a:p>
        </p:txBody>
      </p:sp>
      <p:sp>
        <p:nvSpPr>
          <p:cNvPr id="13" name="Oval 12"/>
          <p:cNvSpPr/>
          <p:nvPr/>
        </p:nvSpPr>
        <p:spPr>
          <a:xfrm>
            <a:off x="3355848" y="2962656"/>
            <a:ext cx="201168" cy="201168"/>
          </a:xfrm>
          <a:prstGeom prst="ellipse">
            <a:avLst/>
          </a:prstGeom>
          <a:solidFill>
            <a:srgbClr val="F7F9FB"/>
          </a:solidFill>
          <a:ln w="19050">
            <a:solidFill>
              <a:srgbClr val="C41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256032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WEEKS 3–7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5848" y="333756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B1F2A"/>
                </a:solidFill>
                <a:latin typeface="Georgia"/>
              </a:rPr>
              <a:t>Artifact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3840480"/>
            <a:ext cx="2468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Lesson plan with reflection · instructor feedback · reply · peer read</a:t>
            </a:r>
          </a:p>
        </p:txBody>
      </p:sp>
      <p:sp>
        <p:nvSpPr>
          <p:cNvPr id="17" name="Oval 16"/>
          <p:cNvSpPr/>
          <p:nvPr/>
        </p:nvSpPr>
        <p:spPr>
          <a:xfrm>
            <a:off x="6163056" y="2962656"/>
            <a:ext cx="201168" cy="201168"/>
          </a:xfrm>
          <a:prstGeom prst="ellipse">
            <a:avLst/>
          </a:prstGeom>
          <a:solidFill>
            <a:srgbClr val="F7F9FB"/>
          </a:solidFill>
          <a:ln w="19050">
            <a:solidFill>
              <a:srgbClr val="C41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256032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WEEKS 8–12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333756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B1F2A"/>
                </a:solidFill>
                <a:latin typeface="Georgia"/>
              </a:rPr>
              <a:t>Artifact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3056" y="3840480"/>
            <a:ext cx="2468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Student-work analysis or assessment · reflection · compare with Artifact 1 · feedback and reply</a:t>
            </a:r>
          </a:p>
        </p:txBody>
      </p:sp>
      <p:sp>
        <p:nvSpPr>
          <p:cNvPr id="21" name="Oval 20"/>
          <p:cNvSpPr/>
          <p:nvPr/>
        </p:nvSpPr>
        <p:spPr>
          <a:xfrm>
            <a:off x="8970264" y="2962656"/>
            <a:ext cx="201168" cy="201168"/>
          </a:xfrm>
          <a:prstGeom prst="ellipse">
            <a:avLst/>
          </a:prstGeom>
          <a:solidFill>
            <a:srgbClr val="C41230"/>
          </a:solidFill>
          <a:ln w="19050">
            <a:solidFill>
              <a:srgbClr val="C41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70264" y="256032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WEEKS 13–15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0264" y="333756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B1F2A"/>
                </a:solidFill>
                <a:latin typeface="Georgia"/>
              </a:rPr>
              <a:t>Read it 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0264" y="3840480"/>
            <a:ext cx="2468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Reread the letter · grade the goals · philosophy v2 beside v1 · final integrative reflection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257800"/>
            <a:ext cx="11094415" cy="777240"/>
          </a:xfrm>
          <a:prstGeom prst="rect">
            <a:avLst/>
          </a:prstGeom>
          <a:solidFill>
            <a:srgbClr val="F9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03520"/>
            <a:ext cx="106372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Every phase:  </a:t>
            </a:r>
            <a:r>
              <a:rPr sz="1250" b="0" i="0">
                <a:solidFill>
                  <a:srgbClr val="1B1F2A"/>
                </a:solidFill>
                <a:latin typeface="Calibri"/>
              </a:rPr>
              <a:t>one reflection tied to a specific artifact · one instructor comment answered in the log · goals revisited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Course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Weeks 1–2 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WEEKS 1–2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Everything later in the semester refers back to these two weeks. It takes one class session and one homework.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WHAT YOU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578608"/>
            <a:ext cx="5120640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2697480"/>
            <a:ext cx="51206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Copy the Doc template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Five tabs, headings already in place. Share with the instructor as an editor. Confirm you have a MILE Google Site shell from UNV 101; create one if not.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Letter to your end-of-semester self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Who are you as a math teacher right now? What do you want to be able to do by December? What worries you?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Teaching philosophy v1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Half a page. Kept exactly as written.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Three goals and a muddiest point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Concrete enough to grade in Week 14.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176272"/>
            <a:ext cx="56235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176272"/>
            <a:ext cx="54864" cy="320040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28600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WHAT KEEPS LEARNING GOING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70048"/>
            <a:ext cx="512064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Dated, never overwritten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Each version is a new heading with the week number.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Instructor reads and asks one question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Logged in the Feedback tab; the student's reply is the first graded entry.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Cue prior knowledge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What experiences, identities, and strengths do you bring to teaching math? Where might they need repurposing?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Set the reply norm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Instructor comments within a week; student replies within a week. Announced in the syllabus.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solidFill>
            <a:srgbClr val="F9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Reflection prompt  </a:t>
            </a:r>
            <a:r>
              <a:rPr sz="1300" b="0" i="1">
                <a:solidFill>
                  <a:srgbClr val="1B1F2A"/>
                </a:solidFill>
                <a:latin typeface="Georgia"/>
              </a:rPr>
              <a:t>What do you already believe about how people learn mathematics — and where did that belief come from?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Course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Weeks 3–12  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WEEKS 3–12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Two artifact cycles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Each cycle: make the artifact, reflect on it with a link to a specific part, get feedback, reply. The second cycle adds a comparison with the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WHAT YOU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578608"/>
            <a:ext cx="5120640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2697480"/>
            <a:ext cx="51206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Artifact 1 · lesson plan (MILE artifact)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Standards alignment and anticipated student responses. Reflection: Process and Outcomes prompts. Copied to the Google Site shell as the course's MILE submission.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Artifact 2 · student-work analysis or assessment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Anonymized responses sorted by strategy, or an assessment with results. Reflection: Outcomes and Integration prompts.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Compare-and-contrast reflection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Artifact 2 beside Artifact 1: three differences and what they show about what you've learned.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Feedback log entries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One instructor comment per artifact, each with a dated reply.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176272"/>
            <a:ext cx="56235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176272"/>
            <a:ext cx="54864" cy="320040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28600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WHAT KEEPS LEARNING GOING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70048"/>
            <a:ext cx="512064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Like / not like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How is analyzing student work like, and not like, planning the lesson? Like, and not like, being a student?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Peer read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Trade Docs at Week 6; leave one comment the other must answer in their log.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Lesson wrapper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If Artifact 1 is taught in a placement: how did you prepare, where did students struggle, what next?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Mid-semester goal check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Week 8: reread the goals. One sentence each on progress.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solidFill>
            <a:srgbClr val="F9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Reflection prompt  </a:t>
            </a:r>
            <a:r>
              <a:rPr sz="1300" b="0" i="1">
                <a:solidFill>
                  <a:srgbClr val="1B1F2A"/>
                </a:solidFill>
                <a:latin typeface="Georgia"/>
              </a:rPr>
              <a:t>Point to one line in Artifact 2 that you could not have written before Artifact 1. What changed?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Course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Weeks 13–15  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WEEKS 13–15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Read it 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The final reflection is written with the whole Doc open. It references specific tabs and quotes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WHAT YOU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578608"/>
            <a:ext cx="5120640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2697480"/>
            <a:ext cx="51206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Reread the Week 1 letter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Grade each goal. Answer the muddiest point — or explain why it's still muddy.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Teaching philosophy v2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Rewritten, placed beside v1, with a note on what changed and what caused it.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Final integrative reflection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Referencing both artifacts, the feedback log, and the letter: what can you do now that you couldn't in Week 1? What transfers to your next course or placement?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Letter to next-semester self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Three goals for the next course. This becomes the first entry of the next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176272"/>
            <a:ext cx="56235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176272"/>
            <a:ext cx="54864" cy="320040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28600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WHAT KEEPS LEARNING GOING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70048"/>
            <a:ext cx="512064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Integration prompt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How does this semester's work connect to earlier courses and to your own schooling? How does it prepare you for student teaching?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Instructor's closing reply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One paragraph on the growth the instructor sees, with tab references. The last entry in the log.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Exit permission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The student keeps the Doc; the instructor is removed as editor, by the student, after grades post.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Migration note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Artifact 1 and its reflection go to the MILE shell now. If the program adopts the four-year Site, copy every tab into the matching Year 2 page.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solidFill>
            <a:srgbClr val="F9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Reflection prompt  </a:t>
            </a:r>
            <a:r>
              <a:rPr sz="1300" b="0" i="1">
                <a:solidFill>
                  <a:srgbClr val="1B1F2A"/>
                </a:solidFill>
                <a:latin typeface="Georgia"/>
              </a:rPr>
              <a:t>Reread your Week 1 letter. Which of your worries turned out to be the right ones? What does the Doc show about how you handled them?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Course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The Doc template  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THE DOC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Five tabs, fixed headings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Students copy this Doc in Week 1. The artifact tabs follow the same section order as the four-year artifact page, so the pilot migrates without rewriting.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86000"/>
            <a:ext cx="676656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B1F2A"/>
                </a:solidFill>
                <a:latin typeface="Georgia"/>
              </a:rPr>
              <a:t>Artifact 1 · Lesson Plan</a:t>
            </a:r>
            <a:r>
              <a:rPr sz="1000" b="0" i="0">
                <a:solidFill>
                  <a:srgbClr val="7B8494"/>
                </a:solidFill>
                <a:latin typeface="Consolas"/>
              </a:rPr>
              <a:t>    Tab 2 of 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" y="2944368"/>
            <a:ext cx="6217920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310896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41230"/>
                </a:solidFill>
                <a:latin typeface="Consolas"/>
              </a:rPr>
              <a:t>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1089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  <a:latin typeface="Calibri"/>
              </a:rPr>
              <a:t>Embedded PDF or Doc. Standards, objectives, anticipated responses.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93592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41230"/>
                </a:solidFill>
                <a:latin typeface="Consolas"/>
              </a:rPr>
              <a:t>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59359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  <a:latin typeface="Calibri"/>
              </a:rPr>
              <a:t>Course, placement, grade band, what came just before and after.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078224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41230"/>
                </a:solidFill>
                <a:latin typeface="Consolas"/>
              </a:rPr>
              <a:t>REFLECTION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078224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  <a:latin typeface="Calibri"/>
              </a:rPr>
              <a:t>Process · Outcomes · Integration · Development — with links to specific parts of the artifact.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62856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41230"/>
                </a:solidFill>
                <a:latin typeface="Consolas"/>
              </a:rPr>
              <a:t>FEEDBACK &amp; REPLY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56285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  <a:latin typeface="Calibri"/>
              </a:rPr>
              <a:t>Instructor / mentor comment, dated. Student reply, dated.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47488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41230"/>
                </a:solidFill>
                <a:latin typeface="Consolas"/>
              </a:rPr>
              <a:t>CONNECTIONS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504748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  <a:latin typeface="Calibri"/>
              </a:rPr>
              <a:t>Links to the earlier artifact this builds on, and the philosophy version it informs.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321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41230"/>
                </a:solidFill>
                <a:latin typeface="Consolas"/>
              </a:rPr>
              <a:t>NEXT STEP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55321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  <a:latin typeface="Calibri"/>
              </a:rPr>
              <a:t>One sentence: what this artifact says you should try next.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286000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DOC TABS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80960" y="2578608"/>
            <a:ext cx="3977639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680960" y="2697480"/>
            <a:ext cx="3977639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1F2A"/>
                </a:solidFill>
                <a:latin typeface="Calibri"/>
              </a:rPr>
              <a:t>About &amp; goals</a:t>
            </a:r>
            <a:r>
              <a:rPr sz="900" b="0" i="0">
                <a:solidFill>
                  <a:srgbClr val="C41230"/>
                </a:solidFill>
                <a:latin typeface="Consolas"/>
              </a:rPr>
              <a:t>   WK 1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B5563"/>
                </a:solidFill>
                <a:latin typeface="Calibri"/>
              </a:rPr>
              <a:t>   Letter · philosophy v1 · three goals · muddiest point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1F2A"/>
                </a:solidFill>
                <a:latin typeface="Calibri"/>
              </a:rPr>
              <a:t>Artifact 1</a:t>
            </a:r>
            <a:r>
              <a:rPr sz="900" b="0" i="0">
                <a:solidFill>
                  <a:srgbClr val="C41230"/>
                </a:solidFill>
                <a:latin typeface="Consolas"/>
              </a:rPr>
              <a:t>   WK 3–7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1F2A"/>
                </a:solidFill>
                <a:latin typeface="Calibri"/>
              </a:rPr>
              <a:t>Artifact 2</a:t>
            </a:r>
            <a:r>
              <a:rPr sz="900" b="0" i="0">
                <a:solidFill>
                  <a:srgbClr val="C41230"/>
                </a:solidFill>
                <a:latin typeface="Consolas"/>
              </a:rPr>
              <a:t>   WK 8–12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B5563"/>
                </a:solidFill>
                <a:latin typeface="Calibri"/>
              </a:rPr>
              <a:t>   includes compare-and-contrast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1F2A"/>
                </a:solidFill>
                <a:latin typeface="Calibri"/>
              </a:rPr>
              <a:t>Feedback log</a:t>
            </a:r>
            <a:r>
              <a:rPr sz="900" b="0" i="0">
                <a:solidFill>
                  <a:srgbClr val="C41230"/>
                </a:solidFill>
                <a:latin typeface="Consolas"/>
              </a:rPr>
              <a:t>   ALL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B5563"/>
                </a:solidFill>
                <a:latin typeface="Calibri"/>
              </a:rPr>
              <a:t>   instructor comment → student reply, dated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1F2A"/>
                </a:solidFill>
                <a:latin typeface="Calibri"/>
              </a:rPr>
              <a:t>Final reflection</a:t>
            </a:r>
            <a:r>
              <a:rPr sz="900" b="0" i="0">
                <a:solidFill>
                  <a:srgbClr val="C41230"/>
                </a:solidFill>
                <a:latin typeface="Consolas"/>
              </a:rPr>
              <a:t>   WK 13–15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B5563"/>
                </a:solidFill>
                <a:latin typeface="Calibri"/>
              </a:rPr>
              <a:t>   philosophy v2 beside v1 · integrative reflection · next letter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Course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Running the pilot  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RUNNING THE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Materials to create, in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From the Week 3 working-group homework: instructions, prompts, grading criteria. Three documents get the pilot running; two more make it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41230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8600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A"/>
                </a:solidFill>
                <a:latin typeface="Georgia"/>
              </a:rPr>
              <a:t>The Doc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22576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Five tabs with headings and the reflection prompts already in place. Students copy it in Week 1.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92608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999232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41230"/>
                </a:solidFill>
                <a:latin typeface="Georg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999232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A"/>
                </a:solidFill>
                <a:latin typeface="Georgia"/>
              </a:rPr>
              <a:t>Reflection prompts by week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035808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Baseline, Artifact 1, Artifact 2, compare-and-contrast, final. Each names the artifact it must link to.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3639312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3712464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41230"/>
                </a:solidFill>
                <a:latin typeface="Georg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712464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A"/>
                </a:solidFill>
                <a:latin typeface="Georgia"/>
              </a:rPr>
              <a:t>Grading criteria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749040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Reflections graded on two things: is the claim tied to a specific place in the artifact, and did the student reply to feedback? Not on length.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4352544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4425696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41230"/>
                </a:solidFill>
                <a:latin typeface="Georg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425696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A"/>
                </a:solidFill>
                <a:latin typeface="Georgia"/>
              </a:rPr>
              <a:t>Syllabus language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4462272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The reply-norm and the permission hand-off, in writing.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5065776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5138928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41230"/>
                </a:solidFill>
                <a:latin typeface="Georgi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138928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A"/>
                </a:solidFill>
                <a:latin typeface="Georgia"/>
              </a:rPr>
              <a:t>End-of-semester debrief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175504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One page from the instructor: what worked, what to change, whether to propose the four-year version to the program. Bring it to MILO and the Howe Center faculty help sessions.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5779008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Sources: Miami ePortfolios Working Group, F'26, Weeks 2–3 (Google Doc with tabs; locus of control) · Lovett (2016) exam wrappers · Schraw (1998)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